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7"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10" d="100"/>
          <a:sy n="110" d="100"/>
        </p:scale>
        <p:origin x="594" y="-1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51811FF-00B5-46DC-AA85-5B04C8E9FBA2}" type="datetimeFigureOut">
              <a:rPr lang="en-IN" smtClean="0"/>
              <a:t>08-09-2026</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60F2B809-3FC1-418F-A71F-D7A9C5B36C0A}" type="slidenum">
              <a:rPr lang="en-IN" smtClean="0"/>
              <a:t>‹#›</a:t>
            </a:fld>
            <a:endParaRPr lang="en-IN"/>
          </a:p>
        </p:txBody>
      </p:sp>
    </p:spTree>
    <p:extLst>
      <p:ext uri="{BB962C8B-B14F-4D97-AF65-F5344CB8AC3E}">
        <p14:creationId xmlns:p14="http://schemas.microsoft.com/office/powerpoint/2010/main" val="16208980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1811FF-00B5-46DC-AA85-5B04C8E9FBA2}" type="datetimeFigureOut">
              <a:rPr lang="en-IN" smtClean="0"/>
              <a:t>08-09-2026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0F2B809-3FC1-418F-A71F-D7A9C5B36C0A}" type="slidenum">
              <a:rPr lang="en-IN" smtClean="0"/>
              <a:t>‹#›</a:t>
            </a:fld>
            <a:endParaRPr lang="en-IN"/>
          </a:p>
        </p:txBody>
      </p:sp>
    </p:spTree>
    <p:extLst>
      <p:ext uri="{BB962C8B-B14F-4D97-AF65-F5344CB8AC3E}">
        <p14:creationId xmlns:p14="http://schemas.microsoft.com/office/powerpoint/2010/main" val="18513071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1811FF-00B5-46DC-AA85-5B04C8E9FBA2}" type="datetimeFigureOut">
              <a:rPr lang="en-IN" smtClean="0"/>
              <a:t>08-09-2026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0F2B809-3FC1-418F-A71F-D7A9C5B36C0A}" type="slidenum">
              <a:rPr lang="en-IN" smtClean="0"/>
              <a:t>‹#›</a:t>
            </a:fld>
            <a:endParaRPr lang="en-IN"/>
          </a:p>
        </p:txBody>
      </p:sp>
    </p:spTree>
    <p:extLst>
      <p:ext uri="{BB962C8B-B14F-4D97-AF65-F5344CB8AC3E}">
        <p14:creationId xmlns:p14="http://schemas.microsoft.com/office/powerpoint/2010/main" val="15965877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51811FF-00B5-46DC-AA85-5B04C8E9FBA2}" type="datetimeFigureOut">
              <a:rPr lang="en-IN" smtClean="0"/>
              <a:t>08-09-2026</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60F2B809-3FC1-418F-A71F-D7A9C5B36C0A}" type="slidenum">
              <a:rPr lang="en-IN" smtClean="0"/>
              <a:t>‹#›</a:t>
            </a:fld>
            <a:endParaRPr lang="en-IN"/>
          </a:p>
        </p:txBody>
      </p:sp>
    </p:spTree>
    <p:extLst>
      <p:ext uri="{BB962C8B-B14F-4D97-AF65-F5344CB8AC3E}">
        <p14:creationId xmlns:p14="http://schemas.microsoft.com/office/powerpoint/2010/main" val="39533749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1811FF-00B5-46DC-AA85-5B04C8E9FBA2}" type="datetimeFigureOut">
              <a:rPr lang="en-IN" smtClean="0"/>
              <a:t>08-09-2026</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60F2B809-3FC1-418F-A71F-D7A9C5B36C0A}" type="slidenum">
              <a:rPr lang="en-IN" smtClean="0"/>
              <a:t>‹#›</a:t>
            </a:fld>
            <a:endParaRPr lang="en-IN"/>
          </a:p>
        </p:txBody>
      </p:sp>
    </p:spTree>
    <p:extLst>
      <p:ext uri="{BB962C8B-B14F-4D97-AF65-F5344CB8AC3E}">
        <p14:creationId xmlns:p14="http://schemas.microsoft.com/office/powerpoint/2010/main" val="1662491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51811FF-00B5-46DC-AA85-5B04C8E9FBA2}" type="datetimeFigureOut">
              <a:rPr lang="en-IN" smtClean="0"/>
              <a:t>08-09-2026</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60F2B809-3FC1-418F-A71F-D7A9C5B36C0A}" type="slidenum">
              <a:rPr lang="en-IN" smtClean="0"/>
              <a:t>‹#›</a:t>
            </a:fld>
            <a:endParaRPr lang="en-IN"/>
          </a:p>
        </p:txBody>
      </p:sp>
    </p:spTree>
    <p:extLst>
      <p:ext uri="{BB962C8B-B14F-4D97-AF65-F5344CB8AC3E}">
        <p14:creationId xmlns:p14="http://schemas.microsoft.com/office/powerpoint/2010/main" val="2127414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51811FF-00B5-46DC-AA85-5B04C8E9FBA2}" type="datetimeFigureOut">
              <a:rPr lang="en-IN" smtClean="0"/>
              <a:t>08-09-2026</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60F2B809-3FC1-418F-A71F-D7A9C5B36C0A}" type="slidenum">
              <a:rPr lang="en-IN" smtClean="0"/>
              <a:t>‹#›</a:t>
            </a:fld>
            <a:endParaRPr lang="en-IN"/>
          </a:p>
        </p:txBody>
      </p:sp>
    </p:spTree>
    <p:extLst>
      <p:ext uri="{BB962C8B-B14F-4D97-AF65-F5344CB8AC3E}">
        <p14:creationId xmlns:p14="http://schemas.microsoft.com/office/powerpoint/2010/main" val="31976457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51811FF-00B5-46DC-AA85-5B04C8E9FBA2}" type="datetimeFigureOut">
              <a:rPr lang="en-IN" smtClean="0"/>
              <a:t>08-09-2026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60F2B809-3FC1-418F-A71F-D7A9C5B36C0A}" type="slidenum">
              <a:rPr lang="en-IN" smtClean="0"/>
              <a:t>‹#›</a:t>
            </a:fld>
            <a:endParaRPr lang="en-IN"/>
          </a:p>
        </p:txBody>
      </p:sp>
    </p:spTree>
    <p:extLst>
      <p:ext uri="{BB962C8B-B14F-4D97-AF65-F5344CB8AC3E}">
        <p14:creationId xmlns:p14="http://schemas.microsoft.com/office/powerpoint/2010/main" val="3864318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51811FF-00B5-46DC-AA85-5B04C8E9FBA2}" type="datetimeFigureOut">
              <a:rPr lang="en-IN" smtClean="0"/>
              <a:t>08-09-2026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0F2B809-3FC1-418F-A71F-D7A9C5B36C0A}" type="slidenum">
              <a:rPr lang="en-IN" smtClean="0"/>
              <a:t>‹#›</a:t>
            </a:fld>
            <a:endParaRPr lang="en-IN"/>
          </a:p>
        </p:txBody>
      </p:sp>
    </p:spTree>
    <p:extLst>
      <p:ext uri="{BB962C8B-B14F-4D97-AF65-F5344CB8AC3E}">
        <p14:creationId xmlns:p14="http://schemas.microsoft.com/office/powerpoint/2010/main" val="40868874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1811FF-00B5-46DC-AA85-5B04C8E9FBA2}" type="datetimeFigureOut">
              <a:rPr lang="en-IN" smtClean="0"/>
              <a:t>08-09-2026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0F2B809-3FC1-418F-A71F-D7A9C5B36C0A}" type="slidenum">
              <a:rPr lang="en-IN" smtClean="0"/>
              <a:t>‹#›</a:t>
            </a:fld>
            <a:endParaRPr lang="en-IN"/>
          </a:p>
        </p:txBody>
      </p:sp>
    </p:spTree>
    <p:extLst>
      <p:ext uri="{BB962C8B-B14F-4D97-AF65-F5344CB8AC3E}">
        <p14:creationId xmlns:p14="http://schemas.microsoft.com/office/powerpoint/2010/main" val="807148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1811FF-00B5-46DC-AA85-5B04C8E9FBA2}" type="datetimeFigureOut">
              <a:rPr lang="en-IN" smtClean="0"/>
              <a:t>08-09-2026</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0F2B809-3FC1-418F-A71F-D7A9C5B36C0A}"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5105675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51811FF-00B5-46DC-AA85-5B04C8E9FBA2}" type="datetimeFigureOut">
              <a:rPr lang="en-IN" smtClean="0"/>
              <a:t>08-09-2026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0F2B809-3FC1-418F-A71F-D7A9C5B36C0A}" type="slidenum">
              <a:rPr lang="en-IN" smtClean="0"/>
              <a:t>‹#›</a:t>
            </a:fld>
            <a:endParaRPr lang="en-IN"/>
          </a:p>
        </p:txBody>
      </p:sp>
    </p:spTree>
    <p:extLst>
      <p:ext uri="{BB962C8B-B14F-4D97-AF65-F5344CB8AC3E}">
        <p14:creationId xmlns:p14="http://schemas.microsoft.com/office/powerpoint/2010/main" val="28157188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51811FF-00B5-46DC-AA85-5B04C8E9FBA2}" type="datetimeFigureOut">
              <a:rPr lang="en-IN" smtClean="0"/>
              <a:t>08-09-2026</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0F2B809-3FC1-418F-A71F-D7A9C5B36C0A}"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0186443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51811FF-00B5-46DC-AA85-5B04C8E9FBA2}" type="datetimeFigureOut">
              <a:rPr lang="en-IN" smtClean="0"/>
              <a:t>08-09-2026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0F2B809-3FC1-418F-A71F-D7A9C5B36C0A}" type="slidenum">
              <a:rPr lang="en-IN" smtClean="0"/>
              <a:t>‹#›</a:t>
            </a:fld>
            <a:endParaRPr lang="en-IN"/>
          </a:p>
        </p:txBody>
      </p:sp>
    </p:spTree>
    <p:extLst>
      <p:ext uri="{BB962C8B-B14F-4D97-AF65-F5344CB8AC3E}">
        <p14:creationId xmlns:p14="http://schemas.microsoft.com/office/powerpoint/2010/main" val="12341123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1811FF-00B5-46DC-AA85-5B04C8E9FBA2}" type="datetimeFigureOut">
              <a:rPr lang="en-IN" smtClean="0"/>
              <a:t>08-09-2026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0F2B809-3FC1-418F-A71F-D7A9C5B36C0A}" type="slidenum">
              <a:rPr lang="en-IN" smtClean="0"/>
              <a:t>‹#›</a:t>
            </a:fld>
            <a:endParaRPr lang="en-IN"/>
          </a:p>
        </p:txBody>
      </p:sp>
    </p:spTree>
    <p:extLst>
      <p:ext uri="{BB962C8B-B14F-4D97-AF65-F5344CB8AC3E}">
        <p14:creationId xmlns:p14="http://schemas.microsoft.com/office/powerpoint/2010/main" val="14599309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1811FF-00B5-46DC-AA85-5B04C8E9FBA2}" type="datetimeFigureOut">
              <a:rPr lang="en-IN" smtClean="0"/>
              <a:t>08-09-2026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0F2B809-3FC1-418F-A71F-D7A9C5B36C0A}" type="slidenum">
              <a:rPr lang="en-IN" smtClean="0"/>
              <a:t>‹#›</a:t>
            </a:fld>
            <a:endParaRPr lang="en-IN"/>
          </a:p>
        </p:txBody>
      </p:sp>
    </p:spTree>
    <p:extLst>
      <p:ext uri="{BB962C8B-B14F-4D97-AF65-F5344CB8AC3E}">
        <p14:creationId xmlns:p14="http://schemas.microsoft.com/office/powerpoint/2010/main" val="38050469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551811FF-00B5-46DC-AA85-5B04C8E9FBA2}" type="datetimeFigureOut">
              <a:rPr lang="en-IN" smtClean="0"/>
              <a:t>08-09-2026</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60F2B809-3FC1-418F-A71F-D7A9C5B36C0A}" type="slidenum">
              <a:rPr lang="en-IN" smtClean="0"/>
              <a:t>‹#›</a:t>
            </a:fld>
            <a:endParaRPr lang="en-IN"/>
          </a:p>
        </p:txBody>
      </p:sp>
    </p:spTree>
    <p:extLst>
      <p:ext uri="{BB962C8B-B14F-4D97-AF65-F5344CB8AC3E}">
        <p14:creationId xmlns:p14="http://schemas.microsoft.com/office/powerpoint/2010/main" val="2263365128"/>
      </p:ext>
    </p:extLst>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 id="2147483749" r:id="rId12"/>
    <p:sldLayoutId id="2147483750" r:id="rId13"/>
    <p:sldLayoutId id="2147483751" r:id="rId14"/>
    <p:sldLayoutId id="2147483752" r:id="rId15"/>
    <p:sldLayoutId id="2147483753"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C29A819-7D20-FA0E-7688-D57E05FA21AD}"/>
              </a:ext>
            </a:extLst>
          </p:cNvPr>
          <p:cNvPicPr>
            <a:picLocks noChangeAspect="1"/>
          </p:cNvPicPr>
          <p:nvPr/>
        </p:nvPicPr>
        <p:blipFill>
          <a:blip r:embed="rId2">
            <a:alphaModFix amt="35000"/>
            <a:extLst>
              <a:ext uri="{28A0092B-C50C-407E-A947-70E740481C1C}">
                <a14:useLocalDpi xmlns:a14="http://schemas.microsoft.com/office/drawing/2010/main" val="0"/>
              </a:ext>
            </a:extLst>
          </a:blip>
          <a:stretch>
            <a:fillRect/>
          </a:stretch>
        </p:blipFill>
        <p:spPr>
          <a:xfrm>
            <a:off x="10561320" y="6314440"/>
            <a:ext cx="1630680" cy="543560"/>
          </a:xfrm>
          <a:prstGeom prst="rect">
            <a:avLst/>
          </a:prstGeom>
        </p:spPr>
      </p:pic>
      <p:sp>
        <p:nvSpPr>
          <p:cNvPr id="2" name="Title 1">
            <a:extLst>
              <a:ext uri="{FF2B5EF4-FFF2-40B4-BE49-F238E27FC236}">
                <a16:creationId xmlns:a16="http://schemas.microsoft.com/office/drawing/2014/main" id="{63DA8206-1CDE-7128-11CD-AB01AED32A70}"/>
              </a:ext>
            </a:extLst>
          </p:cNvPr>
          <p:cNvSpPr>
            <a:spLocks noGrp="1"/>
          </p:cNvSpPr>
          <p:nvPr>
            <p:ph type="ctrTitle"/>
          </p:nvPr>
        </p:nvSpPr>
        <p:spPr>
          <a:xfrm>
            <a:off x="1371600" y="1603904"/>
            <a:ext cx="9448800" cy="1825096"/>
          </a:xfrm>
        </p:spPr>
        <p:txBody>
          <a:bodyPr>
            <a:normAutofit/>
          </a:bodyPr>
          <a:lstStyle/>
          <a:p>
            <a:pPr algn="l"/>
            <a:r>
              <a:rPr lang="en-IN" dirty="0"/>
              <a:t>E-Commerce Sales &amp; Profitability Analysis</a:t>
            </a:r>
          </a:p>
        </p:txBody>
      </p:sp>
      <p:sp>
        <p:nvSpPr>
          <p:cNvPr id="3" name="Subtitle 2">
            <a:extLst>
              <a:ext uri="{FF2B5EF4-FFF2-40B4-BE49-F238E27FC236}">
                <a16:creationId xmlns:a16="http://schemas.microsoft.com/office/drawing/2014/main" id="{E91DA6A6-9769-17DB-4EBF-5255DFBF0551}"/>
              </a:ext>
            </a:extLst>
          </p:cNvPr>
          <p:cNvSpPr>
            <a:spLocks noGrp="1"/>
          </p:cNvSpPr>
          <p:nvPr>
            <p:ph type="subTitle" idx="1"/>
          </p:nvPr>
        </p:nvSpPr>
        <p:spPr>
          <a:xfrm>
            <a:off x="1764792" y="3628502"/>
            <a:ext cx="8147304" cy="2214514"/>
          </a:xfrm>
        </p:spPr>
        <p:txBody>
          <a:bodyPr>
            <a:normAutofit/>
          </a:bodyPr>
          <a:lstStyle/>
          <a:p>
            <a:pPr algn="l">
              <a:lnSpc>
                <a:spcPct val="115000"/>
              </a:lnSpc>
              <a:spcAft>
                <a:spcPts val="800"/>
              </a:spcAft>
            </a:pPr>
            <a:r>
              <a:rPr lang="en-IN" sz="1800" b="1" kern="100" dirty="0">
                <a:effectLst/>
                <a:latin typeface="Aptos" panose="020B0004020202020204" pitchFamily="34" charset="0"/>
                <a:ea typeface="Aptos" panose="020B0004020202020204" pitchFamily="34" charset="0"/>
                <a:cs typeface="Mangal" panose="02040503050203030202" pitchFamily="18" charset="0"/>
              </a:rPr>
              <a:t>Name:</a:t>
            </a:r>
            <a:r>
              <a:rPr lang="en-IN" sz="1800" kern="100" dirty="0">
                <a:effectLst/>
                <a:latin typeface="Aptos" panose="020B0004020202020204" pitchFamily="34" charset="0"/>
                <a:ea typeface="Aptos" panose="020B0004020202020204" pitchFamily="34" charset="0"/>
                <a:cs typeface="Mangal" panose="02040503050203030202" pitchFamily="18" charset="0"/>
              </a:rPr>
              <a:t> Ayush Kumar</a:t>
            </a:r>
          </a:p>
          <a:p>
            <a:pPr algn="l">
              <a:lnSpc>
                <a:spcPct val="115000"/>
              </a:lnSpc>
              <a:spcAft>
                <a:spcPts val="800"/>
              </a:spcAft>
            </a:pPr>
            <a:r>
              <a:rPr lang="en-IN" sz="1800" b="1" kern="100" dirty="0">
                <a:effectLst/>
                <a:latin typeface="Aptos" panose="020B0004020202020204" pitchFamily="34" charset="0"/>
                <a:ea typeface="Aptos" panose="020B0004020202020204" pitchFamily="34" charset="0"/>
                <a:cs typeface="Mangal" panose="02040503050203030202" pitchFamily="18" charset="0"/>
              </a:rPr>
              <a:t>Batch Cohort:</a:t>
            </a:r>
            <a:r>
              <a:rPr lang="en-IN" sz="1800" kern="100" dirty="0">
                <a:effectLst/>
                <a:latin typeface="Aptos" panose="020B0004020202020204" pitchFamily="34" charset="0"/>
                <a:ea typeface="Aptos" panose="020B0004020202020204" pitchFamily="34" charset="0"/>
                <a:cs typeface="Mangal" panose="02040503050203030202" pitchFamily="18" charset="0"/>
              </a:rPr>
              <a:t> Batch-03</a:t>
            </a:r>
          </a:p>
          <a:p>
            <a:pPr algn="l">
              <a:lnSpc>
                <a:spcPct val="115000"/>
              </a:lnSpc>
              <a:spcAft>
                <a:spcPts val="800"/>
              </a:spcAft>
            </a:pPr>
            <a:r>
              <a:rPr lang="en-IN" sz="1800" b="1" kern="100" dirty="0">
                <a:effectLst/>
                <a:latin typeface="Aptos" panose="020B0004020202020204" pitchFamily="34" charset="0"/>
                <a:ea typeface="Aptos" panose="020B0004020202020204" pitchFamily="34" charset="0"/>
                <a:cs typeface="Mangal" panose="02040503050203030202" pitchFamily="18" charset="0"/>
              </a:rPr>
              <a:t>Student ID:</a:t>
            </a:r>
            <a:r>
              <a:rPr lang="en-IN" sz="1800" kern="100" dirty="0">
                <a:effectLst/>
                <a:latin typeface="Aptos" panose="020B0004020202020204" pitchFamily="34" charset="0"/>
                <a:ea typeface="Aptos" panose="020B0004020202020204" pitchFamily="34" charset="0"/>
                <a:cs typeface="Mangal" panose="02040503050203030202" pitchFamily="18" charset="0"/>
              </a:rPr>
              <a:t> INST26DA030238</a:t>
            </a:r>
          </a:p>
          <a:p>
            <a:pPr algn="l"/>
            <a:r>
              <a:rPr lang="en-IN" sz="1800" b="1" dirty="0">
                <a:effectLst/>
                <a:latin typeface="Aptos" panose="020B0004020202020204" pitchFamily="34" charset="0"/>
                <a:ea typeface="Aptos" panose="020B0004020202020204" pitchFamily="34" charset="0"/>
                <a:cs typeface="Mangal" panose="02040503050203030202" pitchFamily="18" charset="0"/>
              </a:rPr>
              <a:t>Internship Domain:</a:t>
            </a:r>
            <a:r>
              <a:rPr lang="en-IN" sz="1800" dirty="0">
                <a:effectLst/>
                <a:latin typeface="Aptos" panose="020B0004020202020204" pitchFamily="34" charset="0"/>
                <a:ea typeface="Aptos" panose="020B0004020202020204" pitchFamily="34" charset="0"/>
                <a:cs typeface="Mangal" panose="02040503050203030202" pitchFamily="18" charset="0"/>
              </a:rPr>
              <a:t> Data Analytics</a:t>
            </a:r>
            <a:endParaRPr lang="en-IN" dirty="0"/>
          </a:p>
        </p:txBody>
      </p:sp>
    </p:spTree>
    <p:extLst>
      <p:ext uri="{BB962C8B-B14F-4D97-AF65-F5344CB8AC3E}">
        <p14:creationId xmlns:p14="http://schemas.microsoft.com/office/powerpoint/2010/main" val="18618631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65CE2-CE83-C944-11B7-08534FFE3232}"/>
              </a:ext>
            </a:extLst>
          </p:cNvPr>
          <p:cNvSpPr>
            <a:spLocks noGrp="1"/>
          </p:cNvSpPr>
          <p:nvPr>
            <p:ph type="title"/>
          </p:nvPr>
        </p:nvSpPr>
        <p:spPr>
          <a:xfrm>
            <a:off x="1627632" y="645501"/>
            <a:ext cx="9217152" cy="772491"/>
          </a:xfrm>
        </p:spPr>
        <p:txBody>
          <a:bodyPr/>
          <a:lstStyle/>
          <a:p>
            <a:pPr algn="l"/>
            <a:r>
              <a:rPr lang="en-IN" dirty="0"/>
              <a:t>Project Overview</a:t>
            </a:r>
          </a:p>
        </p:txBody>
      </p:sp>
      <p:sp>
        <p:nvSpPr>
          <p:cNvPr id="4" name="Rectangle 1">
            <a:extLst>
              <a:ext uri="{FF2B5EF4-FFF2-40B4-BE49-F238E27FC236}">
                <a16:creationId xmlns:a16="http://schemas.microsoft.com/office/drawing/2014/main" id="{EA1C1461-488C-42BC-7C86-B52B04E18B67}"/>
              </a:ext>
            </a:extLst>
          </p:cNvPr>
          <p:cNvSpPr>
            <a:spLocks noGrp="1" noChangeArrowheads="1"/>
          </p:cNvSpPr>
          <p:nvPr>
            <p:ph idx="1"/>
          </p:nvPr>
        </p:nvSpPr>
        <p:spPr bwMode="auto">
          <a:xfrm>
            <a:off x="1627632" y="1602415"/>
            <a:ext cx="8823960" cy="34983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r>
              <a:rPr lang="en-US" dirty="0"/>
              <a:t>An end-to-end analytical assessment of an e-commerce retail dataset of 9,994 transactions over four years of operation (from 2014 to 2017) is carried out in this project. The data analytics pipeline involves the entire life cycle of data—right from the programmatic data ingestion, auditing, and cleaning using Python, through exploratory data analysis and statistical modeling, and finally into the construction of a Power BI dashboard supported by GitHub documentation.</a:t>
            </a:r>
          </a:p>
          <a:p>
            <a:r>
              <a:rPr lang="en-US" dirty="0"/>
              <a:t>Even though the business made a revenue of over $2.30 million in gross revenue through 5,009 orders, net profit margins are tight, sitting at just 12.47% or $286.40 thousand net profit. The key purpose of this project is to determine the underlying causes behind the compressed margins, such as uncontrolled promotions, shipping costs, and non-profitable categories.</a:t>
            </a:r>
          </a:p>
        </p:txBody>
      </p:sp>
      <p:pic>
        <p:nvPicPr>
          <p:cNvPr id="6" name="Picture 5">
            <a:extLst>
              <a:ext uri="{FF2B5EF4-FFF2-40B4-BE49-F238E27FC236}">
                <a16:creationId xmlns:a16="http://schemas.microsoft.com/office/drawing/2014/main" id="{2C63287A-2D72-5EDB-1C56-90969BCEBBF1}"/>
              </a:ext>
            </a:extLst>
          </p:cNvPr>
          <p:cNvPicPr>
            <a:picLocks noChangeAspect="1"/>
          </p:cNvPicPr>
          <p:nvPr/>
        </p:nvPicPr>
        <p:blipFill>
          <a:blip r:embed="rId2">
            <a:alphaModFix amt="35000"/>
            <a:extLst>
              <a:ext uri="{28A0092B-C50C-407E-A947-70E740481C1C}">
                <a14:useLocalDpi xmlns:a14="http://schemas.microsoft.com/office/drawing/2010/main" val="0"/>
              </a:ext>
            </a:extLst>
          </a:blip>
          <a:stretch>
            <a:fillRect/>
          </a:stretch>
        </p:blipFill>
        <p:spPr>
          <a:xfrm>
            <a:off x="10561320" y="6314440"/>
            <a:ext cx="1630680" cy="543560"/>
          </a:xfrm>
          <a:prstGeom prst="rect">
            <a:avLst/>
          </a:prstGeom>
        </p:spPr>
      </p:pic>
    </p:spTree>
    <p:extLst>
      <p:ext uri="{BB962C8B-B14F-4D97-AF65-F5344CB8AC3E}">
        <p14:creationId xmlns:p14="http://schemas.microsoft.com/office/powerpoint/2010/main" val="13735789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CE8B4-8316-7E63-D071-E96366625D4F}"/>
              </a:ext>
            </a:extLst>
          </p:cNvPr>
          <p:cNvSpPr>
            <a:spLocks noGrp="1"/>
          </p:cNvSpPr>
          <p:nvPr>
            <p:ph type="title"/>
          </p:nvPr>
        </p:nvSpPr>
        <p:spPr>
          <a:xfrm>
            <a:off x="1760821" y="642398"/>
            <a:ext cx="8911687" cy="656050"/>
          </a:xfrm>
        </p:spPr>
        <p:txBody>
          <a:bodyPr/>
          <a:lstStyle/>
          <a:p>
            <a:r>
              <a:rPr lang="en-IN" dirty="0"/>
              <a:t>Problem Statement</a:t>
            </a:r>
          </a:p>
        </p:txBody>
      </p:sp>
      <p:sp>
        <p:nvSpPr>
          <p:cNvPr id="3" name="Content Placeholder 2">
            <a:extLst>
              <a:ext uri="{FF2B5EF4-FFF2-40B4-BE49-F238E27FC236}">
                <a16:creationId xmlns:a16="http://schemas.microsoft.com/office/drawing/2014/main" id="{592CB569-3E98-5E87-174A-4953626E5C5C}"/>
              </a:ext>
            </a:extLst>
          </p:cNvPr>
          <p:cNvSpPr>
            <a:spLocks noGrp="1"/>
          </p:cNvSpPr>
          <p:nvPr>
            <p:ph idx="1"/>
          </p:nvPr>
        </p:nvSpPr>
        <p:spPr>
          <a:xfrm>
            <a:off x="1760821" y="1392493"/>
            <a:ext cx="8731842" cy="4340795"/>
          </a:xfrm>
        </p:spPr>
        <p:txBody>
          <a:bodyPr>
            <a:normAutofit fontScale="92500" lnSpcReduction="20000"/>
          </a:bodyPr>
          <a:lstStyle/>
          <a:p>
            <a:pPr marL="0" indent="0">
              <a:buNone/>
            </a:pPr>
            <a:r>
              <a:rPr lang="en-US" dirty="0"/>
              <a:t>This project focuses on solving a key operational problem that despite the business being able to make over $2.30M in gross revenues from 5,009 unique orders, its overall net profit margins are constrained to 12.47% or $286.40K net profit. Revenue growth is not enough to drive sustainable financial growth due to significant margin erosion in certain product lines, promotion channels, and regions.</a:t>
            </a:r>
          </a:p>
          <a:p>
            <a:r>
              <a:rPr lang="en-US" b="1" dirty="0"/>
              <a:t>Uncontrolled Promotional Discounts:</a:t>
            </a:r>
            <a:r>
              <a:rPr lang="en-US" dirty="0"/>
              <a:t> Discounts greater than established baseline (especially those ≥30%) lead to severe margin erosion where high discounts mean net losses of up to -180.03%.</a:t>
            </a:r>
          </a:p>
          <a:p>
            <a:r>
              <a:rPr lang="en-US" b="1" dirty="0"/>
              <a:t>Underperforming Product Sub-Categories:</a:t>
            </a:r>
            <a:r>
              <a:rPr lang="en-US" dirty="0"/>
              <a:t> Inefficiencies in pricing strategies combined with high shipping costs create an environment where certain sub-categories, such as Tables ($17.73K loss) and Bookcases ($3.47 K loss), generate net losses thus offsetting the profits from the core sub-categories like Technology.</a:t>
            </a:r>
          </a:p>
          <a:p>
            <a:r>
              <a:rPr lang="en-US" dirty="0"/>
              <a:t> </a:t>
            </a:r>
            <a:r>
              <a:rPr lang="en-US" b="1" dirty="0"/>
              <a:t>Issues in Certain Regions:</a:t>
            </a:r>
            <a:r>
              <a:rPr lang="en-US" dirty="0"/>
              <a:t> There are significant discrepancies in margin performance in different regions. Whereas the West region demonstrates excellent performance with profit margin of 14.94%, the Central Region lags behind with 7.92%.</a:t>
            </a:r>
            <a:endParaRPr lang="en-IN" dirty="0"/>
          </a:p>
        </p:txBody>
      </p:sp>
      <p:pic>
        <p:nvPicPr>
          <p:cNvPr id="4" name="Picture 3">
            <a:extLst>
              <a:ext uri="{FF2B5EF4-FFF2-40B4-BE49-F238E27FC236}">
                <a16:creationId xmlns:a16="http://schemas.microsoft.com/office/drawing/2014/main" id="{09E878C9-2D38-FDD3-F3F3-341E6ED10E09}"/>
              </a:ext>
            </a:extLst>
          </p:cNvPr>
          <p:cNvPicPr>
            <a:picLocks noChangeAspect="1"/>
          </p:cNvPicPr>
          <p:nvPr/>
        </p:nvPicPr>
        <p:blipFill>
          <a:blip r:embed="rId2">
            <a:alphaModFix amt="35000"/>
            <a:extLst>
              <a:ext uri="{28A0092B-C50C-407E-A947-70E740481C1C}">
                <a14:useLocalDpi xmlns:a14="http://schemas.microsoft.com/office/drawing/2010/main" val="0"/>
              </a:ext>
            </a:extLst>
          </a:blip>
          <a:stretch>
            <a:fillRect/>
          </a:stretch>
        </p:blipFill>
        <p:spPr>
          <a:xfrm>
            <a:off x="10561320" y="6314440"/>
            <a:ext cx="1630680" cy="543560"/>
          </a:xfrm>
          <a:prstGeom prst="rect">
            <a:avLst/>
          </a:prstGeom>
        </p:spPr>
      </p:pic>
    </p:spTree>
    <p:extLst>
      <p:ext uri="{BB962C8B-B14F-4D97-AF65-F5344CB8AC3E}">
        <p14:creationId xmlns:p14="http://schemas.microsoft.com/office/powerpoint/2010/main" val="4093223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DAA4F-05D4-E261-D913-AD4B049461B0}"/>
              </a:ext>
            </a:extLst>
          </p:cNvPr>
          <p:cNvSpPr>
            <a:spLocks noGrp="1"/>
          </p:cNvSpPr>
          <p:nvPr>
            <p:ph type="title"/>
          </p:nvPr>
        </p:nvSpPr>
        <p:spPr>
          <a:xfrm>
            <a:off x="1705957" y="578390"/>
            <a:ext cx="8911687" cy="784066"/>
          </a:xfrm>
        </p:spPr>
        <p:txBody>
          <a:bodyPr/>
          <a:lstStyle/>
          <a:p>
            <a:r>
              <a:rPr lang="en-IN" dirty="0"/>
              <a:t>Dataset Overview</a:t>
            </a:r>
          </a:p>
        </p:txBody>
      </p:sp>
      <p:sp>
        <p:nvSpPr>
          <p:cNvPr id="5" name="Rectangle 2">
            <a:extLst>
              <a:ext uri="{FF2B5EF4-FFF2-40B4-BE49-F238E27FC236}">
                <a16:creationId xmlns:a16="http://schemas.microsoft.com/office/drawing/2014/main" id="{EAF035DD-AB92-2D48-E55E-98A081F4BADD}"/>
              </a:ext>
            </a:extLst>
          </p:cNvPr>
          <p:cNvSpPr>
            <a:spLocks noGrp="1" noChangeArrowheads="1"/>
          </p:cNvSpPr>
          <p:nvPr>
            <p:ph idx="1"/>
          </p:nvPr>
        </p:nvSpPr>
        <p:spPr bwMode="auto">
          <a:xfrm>
            <a:off x="1705957" y="1639114"/>
            <a:ext cx="9464039" cy="4201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Google Sans Text"/>
              </a:rPr>
              <a:t>Data Set Details: The basis for the analysis of this study is the E-Commerce Retail Dataset (cleaned_sales_data.csv). The data set was audited, cleaned, and engineered in terms of features to ensure that the analysis process is reliable. It consists of 9,994 orders which represent a historical transactional record for a period of four years, from 2014 through 2017. The total number of 24 cleaned and engineered features is presented.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Google Sans Text"/>
              </a:rPr>
              <a:t>Time Related Features</a:t>
            </a:r>
            <a:r>
              <a:rPr kumimoji="0" lang="en-US" altLang="en-US" b="0" i="0" u="none" strike="noStrike" cap="none" normalizeH="0" baseline="0" dirty="0">
                <a:ln>
                  <a:noFill/>
                </a:ln>
                <a:solidFill>
                  <a:schemeClr val="tx1"/>
                </a:solidFill>
                <a:effectLst/>
                <a:latin typeface="Google Sans Text"/>
              </a:rPr>
              <a:t>: Order Date and Ship Date (in datetime format), as well as Order Year, Order Month, and Ship Duration (Days).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Google Sans Text"/>
              </a:rPr>
              <a:t>Geography/Customer-related Features:</a:t>
            </a:r>
            <a:r>
              <a:rPr kumimoji="0" lang="en-US" altLang="en-US" b="0" i="0" u="none" strike="noStrike" cap="none" normalizeH="0" baseline="0" dirty="0">
                <a:ln>
                  <a:noFill/>
                </a:ln>
                <a:solidFill>
                  <a:schemeClr val="tx1"/>
                </a:solidFill>
                <a:effectLst/>
                <a:latin typeface="Google Sans Text"/>
              </a:rPr>
              <a:t> Regional Classification with multiple levels of classification by Region (West, East, Central, South), State, and City and Customer Segment (Consumer, Corporate, Home Office).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Google Sans Text"/>
              </a:rPr>
              <a:t>Product Taxonomy:</a:t>
            </a:r>
            <a:r>
              <a:rPr kumimoji="0" lang="en-US" altLang="en-US" b="0" i="0" u="none" strike="noStrike" cap="none" normalizeH="0" baseline="0" dirty="0">
                <a:ln>
                  <a:noFill/>
                </a:ln>
                <a:solidFill>
                  <a:schemeClr val="tx1"/>
                </a:solidFill>
                <a:effectLst/>
                <a:latin typeface="Google Sans Text"/>
              </a:rPr>
              <a:t> Hierarchy-based feature representing product classification within 3 main Categories (Technology, Furniture, Office Supplies) and 17 Sub-categories (such as Copiers, Phones, Tables, and Binders).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Google Sans Text"/>
              </a:rPr>
              <a:t>Numeric Features:</a:t>
            </a:r>
            <a:r>
              <a:rPr kumimoji="0" lang="en-US" altLang="en-US" b="0" i="0" u="none" strike="noStrike" cap="none" normalizeH="0" baseline="0" dirty="0">
                <a:ln>
                  <a:noFill/>
                </a:ln>
                <a:solidFill>
                  <a:schemeClr val="tx1"/>
                </a:solidFill>
                <a:effectLst/>
                <a:latin typeface="Google Sans Text"/>
              </a:rPr>
              <a:t> Transaction level numeric features representing transactional sales amount, Discount rate (0% to 80%), Quantity and Profit.</a:t>
            </a:r>
          </a:p>
        </p:txBody>
      </p:sp>
      <p:pic>
        <p:nvPicPr>
          <p:cNvPr id="6" name="Picture 5">
            <a:extLst>
              <a:ext uri="{FF2B5EF4-FFF2-40B4-BE49-F238E27FC236}">
                <a16:creationId xmlns:a16="http://schemas.microsoft.com/office/drawing/2014/main" id="{8C27C497-1079-0BF9-0BD2-6E89A4151957}"/>
              </a:ext>
            </a:extLst>
          </p:cNvPr>
          <p:cNvPicPr>
            <a:picLocks noChangeAspect="1"/>
          </p:cNvPicPr>
          <p:nvPr/>
        </p:nvPicPr>
        <p:blipFill>
          <a:blip r:embed="rId2">
            <a:alphaModFix amt="35000"/>
            <a:extLst>
              <a:ext uri="{28A0092B-C50C-407E-A947-70E740481C1C}">
                <a14:useLocalDpi xmlns:a14="http://schemas.microsoft.com/office/drawing/2010/main" val="0"/>
              </a:ext>
            </a:extLst>
          </a:blip>
          <a:stretch>
            <a:fillRect/>
          </a:stretch>
        </p:blipFill>
        <p:spPr>
          <a:xfrm>
            <a:off x="10561320" y="6314440"/>
            <a:ext cx="1630680" cy="543560"/>
          </a:xfrm>
          <a:prstGeom prst="rect">
            <a:avLst/>
          </a:prstGeom>
        </p:spPr>
      </p:pic>
    </p:spTree>
    <p:extLst>
      <p:ext uri="{BB962C8B-B14F-4D97-AF65-F5344CB8AC3E}">
        <p14:creationId xmlns:p14="http://schemas.microsoft.com/office/powerpoint/2010/main" val="2593970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CDBEF-1110-C294-E21A-45A15F443450}"/>
              </a:ext>
            </a:extLst>
          </p:cNvPr>
          <p:cNvSpPr>
            <a:spLocks noGrp="1"/>
          </p:cNvSpPr>
          <p:nvPr>
            <p:ph type="title"/>
          </p:nvPr>
        </p:nvSpPr>
        <p:spPr>
          <a:xfrm>
            <a:off x="1724245" y="560102"/>
            <a:ext cx="8911687" cy="1280890"/>
          </a:xfrm>
        </p:spPr>
        <p:txBody>
          <a:bodyPr/>
          <a:lstStyle/>
          <a:p>
            <a:r>
              <a:rPr lang="en-US" dirty="0"/>
              <a:t>Tool used </a:t>
            </a:r>
            <a:endParaRPr lang="en-IN" dirty="0"/>
          </a:p>
        </p:txBody>
      </p:sp>
      <p:sp>
        <p:nvSpPr>
          <p:cNvPr id="3" name="Content Placeholder 2">
            <a:extLst>
              <a:ext uri="{FF2B5EF4-FFF2-40B4-BE49-F238E27FC236}">
                <a16:creationId xmlns:a16="http://schemas.microsoft.com/office/drawing/2014/main" id="{65984379-863B-662D-614C-9BAFCA81431F}"/>
              </a:ext>
            </a:extLst>
          </p:cNvPr>
          <p:cNvSpPr>
            <a:spLocks noGrp="1"/>
          </p:cNvSpPr>
          <p:nvPr>
            <p:ph idx="1"/>
          </p:nvPr>
        </p:nvSpPr>
        <p:spPr>
          <a:xfrm>
            <a:off x="1724245" y="1996440"/>
            <a:ext cx="8915400" cy="3777622"/>
          </a:xfrm>
        </p:spPr>
        <p:txBody>
          <a:bodyPr/>
          <a:lstStyle/>
          <a:p>
            <a:r>
              <a:rPr lang="en-IN" b="1" dirty="0"/>
              <a:t>Data Processing &amp; EDA: </a:t>
            </a:r>
            <a:r>
              <a:rPr lang="en-IN" dirty="0"/>
              <a:t>Python (pandas, </a:t>
            </a:r>
            <a:r>
              <a:rPr lang="en-IN" dirty="0" err="1"/>
              <a:t>numpy</a:t>
            </a:r>
            <a:r>
              <a:rPr lang="en-IN" dirty="0"/>
              <a:t>, matplotlib, seaborn)</a:t>
            </a:r>
          </a:p>
          <a:p>
            <a:r>
              <a:rPr lang="en-IN" b="1" dirty="0"/>
              <a:t>Business Intelligence:</a:t>
            </a:r>
            <a:r>
              <a:rPr lang="en-IN" dirty="0"/>
              <a:t> Power BI Desktop</a:t>
            </a:r>
          </a:p>
          <a:p>
            <a:r>
              <a:rPr lang="en-IN" b="1" dirty="0"/>
              <a:t>Version Control:</a:t>
            </a:r>
            <a:r>
              <a:rPr lang="en-IN" dirty="0"/>
              <a:t> Git, GitHub</a:t>
            </a:r>
          </a:p>
        </p:txBody>
      </p:sp>
      <p:pic>
        <p:nvPicPr>
          <p:cNvPr id="4" name="Picture 3">
            <a:extLst>
              <a:ext uri="{FF2B5EF4-FFF2-40B4-BE49-F238E27FC236}">
                <a16:creationId xmlns:a16="http://schemas.microsoft.com/office/drawing/2014/main" id="{C79942F9-5AF4-2B6E-14CC-FDC2A546A029}"/>
              </a:ext>
            </a:extLst>
          </p:cNvPr>
          <p:cNvPicPr>
            <a:picLocks noChangeAspect="1"/>
          </p:cNvPicPr>
          <p:nvPr/>
        </p:nvPicPr>
        <p:blipFill>
          <a:blip r:embed="rId2">
            <a:alphaModFix amt="35000"/>
            <a:extLst>
              <a:ext uri="{28A0092B-C50C-407E-A947-70E740481C1C}">
                <a14:useLocalDpi xmlns:a14="http://schemas.microsoft.com/office/drawing/2010/main" val="0"/>
              </a:ext>
            </a:extLst>
          </a:blip>
          <a:stretch>
            <a:fillRect/>
          </a:stretch>
        </p:blipFill>
        <p:spPr>
          <a:xfrm>
            <a:off x="10561320" y="6314440"/>
            <a:ext cx="1630680" cy="543560"/>
          </a:xfrm>
          <a:prstGeom prst="rect">
            <a:avLst/>
          </a:prstGeom>
        </p:spPr>
      </p:pic>
    </p:spTree>
    <p:extLst>
      <p:ext uri="{BB962C8B-B14F-4D97-AF65-F5344CB8AC3E}">
        <p14:creationId xmlns:p14="http://schemas.microsoft.com/office/powerpoint/2010/main" val="31620409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C2FBF-677C-4B6F-CC96-017C932C25C7}"/>
              </a:ext>
            </a:extLst>
          </p:cNvPr>
          <p:cNvSpPr>
            <a:spLocks noGrp="1"/>
          </p:cNvSpPr>
          <p:nvPr>
            <p:ph type="title"/>
          </p:nvPr>
        </p:nvSpPr>
        <p:spPr>
          <a:xfrm>
            <a:off x="1715100" y="587534"/>
            <a:ext cx="8911687" cy="728117"/>
          </a:xfrm>
        </p:spPr>
        <p:txBody>
          <a:bodyPr>
            <a:normAutofit fontScale="90000"/>
          </a:bodyPr>
          <a:lstStyle/>
          <a:p>
            <a:r>
              <a:rPr lang="en-US" b="1" dirty="0"/>
              <a:t>Target End Users for the Project</a:t>
            </a:r>
            <a:br>
              <a:rPr lang="en-US" b="1" dirty="0"/>
            </a:br>
            <a:endParaRPr lang="en-IN" dirty="0"/>
          </a:p>
        </p:txBody>
      </p:sp>
      <p:sp>
        <p:nvSpPr>
          <p:cNvPr id="3" name="Content Placeholder 2">
            <a:extLst>
              <a:ext uri="{FF2B5EF4-FFF2-40B4-BE49-F238E27FC236}">
                <a16:creationId xmlns:a16="http://schemas.microsoft.com/office/drawing/2014/main" id="{1AB71280-A3C1-7A15-5E09-8646C636E7FD}"/>
              </a:ext>
            </a:extLst>
          </p:cNvPr>
          <p:cNvSpPr>
            <a:spLocks noGrp="1"/>
          </p:cNvSpPr>
          <p:nvPr>
            <p:ph idx="1"/>
          </p:nvPr>
        </p:nvSpPr>
        <p:spPr>
          <a:xfrm>
            <a:off x="1715100" y="1457892"/>
            <a:ext cx="9495443" cy="4439987"/>
          </a:xfrm>
        </p:spPr>
        <p:txBody>
          <a:bodyPr>
            <a:normAutofit fontScale="92500" lnSpcReduction="10000"/>
          </a:bodyPr>
          <a:lstStyle/>
          <a:p>
            <a:pPr>
              <a:buFont typeface="Arial" panose="020B0604020202020204" pitchFamily="34" charset="0"/>
              <a:buChar char="•"/>
            </a:pPr>
            <a:r>
              <a:rPr lang="en-US" b="1" dirty="0"/>
              <a:t>Executive Leadership &amp; C-Suite:</a:t>
            </a:r>
            <a:r>
              <a:rPr lang="en-US" dirty="0"/>
              <a:t> Chief Executive Officers (CEOs), Chief Financial Officers (CFOs), and Vice Presidents of Sales who require high-level visibility into company revenue ($2.30M), overall profit ($286.40K), and aggregate margins (12.47%) to make strategic corporate decisions.</a:t>
            </a:r>
          </a:p>
          <a:p>
            <a:pPr>
              <a:buFont typeface="Arial" panose="020B0604020202020204" pitchFamily="34" charset="0"/>
              <a:buChar char="•"/>
            </a:pPr>
            <a:r>
              <a:rPr lang="en-US" b="1" dirty="0"/>
              <a:t>Sales &amp; Pricing Managers:</a:t>
            </a:r>
            <a:r>
              <a:rPr lang="en-US" dirty="0"/>
              <a:t> Commercial teams responsible for setting promotional policies, managing discount structures (enforcing caps at 15%–20%), and evaluating customer segment performance (Consumer, Corporate, Home Office).</a:t>
            </a:r>
          </a:p>
          <a:p>
            <a:pPr>
              <a:buFont typeface="Arial" panose="020B0604020202020204" pitchFamily="34" charset="0"/>
              <a:buChar char="•"/>
            </a:pPr>
            <a:r>
              <a:rPr lang="en-US" b="1" dirty="0"/>
              <a:t>Product Category Managers:</a:t>
            </a:r>
            <a:r>
              <a:rPr lang="en-US" dirty="0"/>
              <a:t> Inventory and merchandising leads who oversee specific categories (Technology, Furniture, Office Supplies) and need to address underperforming or loss-making sub-categories like Tables and Bookcases.</a:t>
            </a:r>
          </a:p>
          <a:p>
            <a:pPr>
              <a:buFont typeface="Arial" panose="020B0604020202020204" pitchFamily="34" charset="0"/>
              <a:buChar char="•"/>
            </a:pPr>
            <a:r>
              <a:rPr lang="en-US" b="1" dirty="0"/>
              <a:t>Regional Sales Directors &amp; Territory Managers:</a:t>
            </a:r>
            <a:r>
              <a:rPr lang="en-US" dirty="0"/>
              <a:t> Field leaders across the West, East, Central, and South regions who monitor localized sales trends, optimize regional marketing, and fix regional profitability bottlenecks (such as the Central region lag).</a:t>
            </a:r>
          </a:p>
          <a:p>
            <a:pPr>
              <a:buFont typeface="Arial" panose="020B0604020202020204" pitchFamily="34" charset="0"/>
              <a:buChar char="•"/>
            </a:pPr>
            <a:r>
              <a:rPr lang="en-US" b="1" dirty="0"/>
              <a:t>Supply Chain &amp; Operations Teams:</a:t>
            </a:r>
            <a:r>
              <a:rPr lang="en-US" dirty="0"/>
              <a:t> Fulfillment managers analyzing shipping durations (averaging 3.96 days) and logistics costs to improve overall operational efficiency.</a:t>
            </a:r>
          </a:p>
          <a:p>
            <a:endParaRPr lang="en-IN" dirty="0"/>
          </a:p>
        </p:txBody>
      </p:sp>
      <p:pic>
        <p:nvPicPr>
          <p:cNvPr id="4" name="Picture 3">
            <a:extLst>
              <a:ext uri="{FF2B5EF4-FFF2-40B4-BE49-F238E27FC236}">
                <a16:creationId xmlns:a16="http://schemas.microsoft.com/office/drawing/2014/main" id="{31F49AB1-50E7-0DCD-F4BA-1E0860EB26D4}"/>
              </a:ext>
            </a:extLst>
          </p:cNvPr>
          <p:cNvPicPr>
            <a:picLocks noChangeAspect="1"/>
          </p:cNvPicPr>
          <p:nvPr/>
        </p:nvPicPr>
        <p:blipFill>
          <a:blip r:embed="rId2">
            <a:alphaModFix amt="35000"/>
            <a:extLst>
              <a:ext uri="{28A0092B-C50C-407E-A947-70E740481C1C}">
                <a14:useLocalDpi xmlns:a14="http://schemas.microsoft.com/office/drawing/2010/main" val="0"/>
              </a:ext>
            </a:extLst>
          </a:blip>
          <a:stretch>
            <a:fillRect/>
          </a:stretch>
        </p:blipFill>
        <p:spPr>
          <a:xfrm>
            <a:off x="10561320" y="6314440"/>
            <a:ext cx="1630680" cy="543560"/>
          </a:xfrm>
          <a:prstGeom prst="rect">
            <a:avLst/>
          </a:prstGeom>
        </p:spPr>
      </p:pic>
    </p:spTree>
    <p:extLst>
      <p:ext uri="{BB962C8B-B14F-4D97-AF65-F5344CB8AC3E}">
        <p14:creationId xmlns:p14="http://schemas.microsoft.com/office/powerpoint/2010/main" val="24232400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F2E54-F82C-8ADB-814A-B7C998A8803D}"/>
              </a:ext>
            </a:extLst>
          </p:cNvPr>
          <p:cNvSpPr>
            <a:spLocks noGrp="1"/>
          </p:cNvSpPr>
          <p:nvPr>
            <p:ph type="title"/>
          </p:nvPr>
        </p:nvSpPr>
        <p:spPr>
          <a:xfrm>
            <a:off x="1640156" y="577605"/>
            <a:ext cx="8911687" cy="738346"/>
          </a:xfrm>
        </p:spPr>
        <p:txBody>
          <a:bodyPr/>
          <a:lstStyle/>
          <a:p>
            <a:r>
              <a:rPr lang="en-IN" b="1" i="0" dirty="0">
                <a:solidFill>
                  <a:schemeClr val="tx1"/>
                </a:solidFill>
                <a:effectLst/>
              </a:rPr>
              <a:t>Data Cleaning Process</a:t>
            </a:r>
            <a:endParaRPr lang="en-IN" b="1" dirty="0">
              <a:solidFill>
                <a:schemeClr val="tx1"/>
              </a:solidFill>
            </a:endParaRPr>
          </a:p>
        </p:txBody>
      </p:sp>
      <p:sp>
        <p:nvSpPr>
          <p:cNvPr id="5" name="Rectangle 2">
            <a:extLst>
              <a:ext uri="{FF2B5EF4-FFF2-40B4-BE49-F238E27FC236}">
                <a16:creationId xmlns:a16="http://schemas.microsoft.com/office/drawing/2014/main" id="{8EDD3A53-73FB-9186-9876-A7C2F08BE276}"/>
              </a:ext>
            </a:extLst>
          </p:cNvPr>
          <p:cNvSpPr>
            <a:spLocks noGrp="1" noChangeArrowheads="1"/>
          </p:cNvSpPr>
          <p:nvPr>
            <p:ph idx="1"/>
          </p:nvPr>
        </p:nvSpPr>
        <p:spPr bwMode="auto">
          <a:xfrm>
            <a:off x="1640156" y="1315166"/>
            <a:ext cx="9831701"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Data Sanitization &amp; Integrity Auditing</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The initial data pipeline focused on ensuring data cleanliness and structural integrity prior to</a:t>
            </a:r>
            <a:r>
              <a:rPr kumimoji="0" lang="en-US" altLang="en-US" b="0" i="0" u="none" strike="noStrike" cap="none" normalizeH="0" dirty="0">
                <a:ln>
                  <a:noFill/>
                </a:ln>
                <a:solidFill>
                  <a:schemeClr val="tx1"/>
                </a:solidFill>
                <a:effectLst/>
                <a:latin typeface="Arial" panose="020B0604020202020204" pitchFamily="34" charset="0"/>
              </a:rPr>
              <a:t> </a:t>
            </a:r>
            <a:r>
              <a:rPr kumimoji="0" lang="en-US" altLang="en-US" b="0" i="0" u="none" strike="noStrike" cap="none" normalizeH="0" baseline="0" dirty="0">
                <a:ln>
                  <a:noFill/>
                </a:ln>
                <a:solidFill>
                  <a:schemeClr val="tx1"/>
                </a:solidFill>
                <a:effectLst/>
                <a:latin typeface="Arial" panose="020B0604020202020204" pitchFamily="34" charset="0"/>
              </a:rPr>
              <a:t>downstream analytical modeling:</a:t>
            </a:r>
          </a:p>
          <a:p>
            <a:pPr defTabSz="914400" eaLnBrk="0" fontAlgn="base" hangingPunct="0">
              <a:spcBef>
                <a:spcPct val="0"/>
              </a:spcBef>
              <a:spcAft>
                <a:spcPct val="0"/>
              </a:spcAft>
              <a:buClrTx/>
              <a:buFont typeface="Courier New" panose="02070309020205020404" pitchFamily="49" charset="0"/>
              <a:buChar char="o"/>
            </a:pPr>
            <a:r>
              <a:rPr kumimoji="0" lang="en-US" altLang="en-US" b="1" i="0" u="none" strike="noStrike" cap="none" normalizeH="0" baseline="0" dirty="0">
                <a:ln>
                  <a:noFill/>
                </a:ln>
                <a:solidFill>
                  <a:schemeClr val="tx1"/>
                </a:solidFill>
                <a:effectLst/>
                <a:latin typeface="Arial" panose="020B0604020202020204" pitchFamily="34" charset="0"/>
              </a:rPr>
              <a:t>Encoding Resolution &amp; Missing Value Audit:</a:t>
            </a:r>
            <a:r>
              <a:rPr kumimoji="0" lang="en-US" altLang="en-US" b="0" i="0" u="none" strike="noStrike" cap="none" normalizeH="0" baseline="0" dirty="0">
                <a:ln>
                  <a:noFill/>
                </a:ln>
                <a:solidFill>
                  <a:schemeClr val="tx1"/>
                </a:solidFill>
                <a:effectLst/>
                <a:latin typeface="Arial" panose="020B0604020202020204" pitchFamily="34" charset="0"/>
              </a:rPr>
              <a:t> Standardized file decoding during ingestion </a:t>
            </a:r>
            <a:r>
              <a:rPr lang="en-US" altLang="en-US" dirty="0">
                <a:solidFill>
                  <a:schemeClr val="tx1"/>
                </a:solidFill>
                <a:latin typeface="Arial" panose="020B0604020202020204" pitchFamily="34" charset="0"/>
              </a:rPr>
              <a:t> </a:t>
            </a:r>
            <a:r>
              <a:rPr kumimoji="0" lang="en-US" altLang="en-US" b="0" i="0" u="none" strike="noStrike" cap="none" normalizeH="0" baseline="0" dirty="0">
                <a:ln>
                  <a:noFill/>
                </a:ln>
                <a:solidFill>
                  <a:schemeClr val="tx1"/>
                </a:solidFill>
                <a:effectLst/>
                <a:latin typeface="Arial" panose="020B0604020202020204" pitchFamily="34" charset="0"/>
              </a:rPr>
              <a:t>(handling </a:t>
            </a:r>
            <a:r>
              <a:rPr kumimoji="0" lang="en-US" altLang="en-US" b="0" i="0" u="none" strike="noStrike" cap="none" normalizeH="0" baseline="0" dirty="0">
                <a:ln>
                  <a:noFill/>
                </a:ln>
                <a:solidFill>
                  <a:schemeClr val="tx1"/>
                </a:solidFill>
                <a:effectLst/>
                <a:latin typeface="Arial Unicode MS"/>
              </a:rPr>
              <a:t>utf-8</a:t>
            </a:r>
            <a:r>
              <a:rPr kumimoji="0" lang="en-US" altLang="en-US" b="0" i="0" u="none" strike="noStrike" cap="none" normalizeH="0" baseline="0" dirty="0">
                <a:ln>
                  <a:noFill/>
                </a:ln>
                <a:solidFill>
                  <a:schemeClr val="tx1"/>
                </a:solidFill>
                <a:effectLst/>
              </a:rPr>
              <a:t> / </a:t>
            </a:r>
            <a:r>
              <a:rPr kumimoji="0" lang="en-US" altLang="en-US" b="0" i="0" u="none" strike="noStrike" cap="none" normalizeH="0" baseline="0" dirty="0">
                <a:ln>
                  <a:noFill/>
                </a:ln>
                <a:solidFill>
                  <a:schemeClr val="tx1"/>
                </a:solidFill>
                <a:effectLst/>
                <a:latin typeface="Arial Unicode MS"/>
              </a:rPr>
              <a:t>latin1</a:t>
            </a:r>
            <a:r>
              <a:rPr kumimoji="0" lang="en-US" altLang="en-US" b="0" i="0" u="none" strike="noStrike" cap="none" normalizeH="0" baseline="0" dirty="0">
                <a:ln>
                  <a:noFill/>
                </a:ln>
                <a:solidFill>
                  <a:schemeClr val="tx1"/>
                </a:solidFill>
                <a:effectLst/>
              </a:rPr>
              <a:t> variations) and verified zero null entries across all 9,994 transaction</a:t>
            </a:r>
            <a:r>
              <a:rPr kumimoji="0" lang="en-US" altLang="en-US" b="0" i="0" u="none" strike="noStrike" cap="none" normalizeH="0" dirty="0">
                <a:ln>
                  <a:noFill/>
                </a:ln>
                <a:solidFill>
                  <a:schemeClr val="tx1"/>
                </a:solidFill>
                <a:effectLst/>
              </a:rPr>
              <a:t> </a:t>
            </a:r>
            <a:r>
              <a:rPr kumimoji="0" lang="en-US" altLang="en-US" b="0" i="0" u="none" strike="noStrike" cap="none" normalizeH="0" baseline="0" dirty="0">
                <a:ln>
                  <a:noFill/>
                </a:ln>
                <a:solidFill>
                  <a:schemeClr val="tx1"/>
                </a:solidFill>
                <a:effectLst/>
              </a:rPr>
              <a:t>rows.</a:t>
            </a:r>
            <a:endParaRPr kumimoji="0" lang="en-US" altLang="en-US" b="0" i="0" u="none" strike="noStrike" cap="none" normalizeH="0" baseline="0" dirty="0">
              <a:ln>
                <a:noFill/>
              </a:ln>
              <a:solidFill>
                <a:schemeClr val="tx1"/>
              </a:solidFill>
              <a:effectLst/>
              <a:latin typeface="Arial" panose="020B0604020202020204" pitchFamily="34" charset="0"/>
            </a:endParaRPr>
          </a:p>
          <a:p>
            <a:pPr defTabSz="914400" eaLnBrk="0" fontAlgn="base" hangingPunct="0">
              <a:spcBef>
                <a:spcPct val="0"/>
              </a:spcBef>
              <a:spcAft>
                <a:spcPct val="0"/>
              </a:spcAft>
              <a:buClrTx/>
              <a:buFont typeface="Courier New" panose="02070309020205020404" pitchFamily="49" charset="0"/>
              <a:buChar char="o"/>
            </a:pPr>
            <a:r>
              <a:rPr kumimoji="0" lang="en-US" altLang="en-US" b="1" i="0" u="none" strike="noStrike" cap="none" normalizeH="0" baseline="0" dirty="0">
                <a:ln>
                  <a:noFill/>
                </a:ln>
                <a:solidFill>
                  <a:schemeClr val="tx1"/>
                </a:solidFill>
                <a:effectLst/>
                <a:latin typeface="Arial" panose="020B0604020202020204" pitchFamily="34" charset="0"/>
              </a:rPr>
              <a:t>Uniqueness Verification:</a:t>
            </a:r>
            <a:r>
              <a:rPr kumimoji="0" lang="en-US" altLang="en-US" b="0" i="0" u="none" strike="noStrike" cap="none" normalizeH="0" baseline="0" dirty="0">
                <a:ln>
                  <a:noFill/>
                </a:ln>
                <a:solidFill>
                  <a:schemeClr val="tx1"/>
                </a:solidFill>
                <a:effectLst/>
                <a:latin typeface="Arial" panose="020B0604020202020204" pitchFamily="34" charset="0"/>
              </a:rPr>
              <a:t> Performed a record-level audit across primary transaction keys, confirming 0 duplicate rows within the dataset.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Feature Engineering &amp; Transformation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To support granular time-series analysis and logistics performance benchmarking, several key attributes were transformed and derived:</a:t>
            </a:r>
          </a:p>
          <a:p>
            <a:pPr defTabSz="914400" eaLnBrk="0" fontAlgn="base" hangingPunct="0">
              <a:spcBef>
                <a:spcPct val="0"/>
              </a:spcBef>
              <a:spcAft>
                <a:spcPct val="0"/>
              </a:spcAft>
              <a:buClrTx/>
              <a:buFont typeface="Courier New" panose="02070309020205020404" pitchFamily="49" charset="0"/>
              <a:buChar char="o"/>
            </a:pPr>
            <a:r>
              <a:rPr kumimoji="0" lang="en-US" altLang="en-US" b="1" i="0" u="none" strike="noStrike" cap="none" normalizeH="0" baseline="0" dirty="0" err="1">
                <a:ln>
                  <a:noFill/>
                </a:ln>
                <a:solidFill>
                  <a:schemeClr val="tx1"/>
                </a:solidFill>
                <a:effectLst/>
                <a:latin typeface="Arial" panose="020B0604020202020204" pitchFamily="34" charset="0"/>
              </a:rPr>
              <a:t>DateTime</a:t>
            </a:r>
            <a:r>
              <a:rPr kumimoji="0" lang="en-US" altLang="en-US" b="1" i="0" u="none" strike="noStrike" cap="none" normalizeH="0" baseline="0" dirty="0">
                <a:ln>
                  <a:noFill/>
                </a:ln>
                <a:solidFill>
                  <a:schemeClr val="tx1"/>
                </a:solidFill>
                <a:effectLst/>
                <a:latin typeface="Arial" panose="020B0604020202020204" pitchFamily="34" charset="0"/>
              </a:rPr>
              <a:t> Parsing:</a:t>
            </a:r>
            <a:r>
              <a:rPr kumimoji="0" lang="en-US" altLang="en-US" b="0" i="0" u="none" strike="noStrike" cap="none" normalizeH="0" baseline="0" dirty="0">
                <a:ln>
                  <a:noFill/>
                </a:ln>
                <a:solidFill>
                  <a:schemeClr val="tx1"/>
                </a:solidFill>
                <a:effectLst/>
                <a:latin typeface="Arial" panose="020B0604020202020204" pitchFamily="34" charset="0"/>
              </a:rPr>
              <a:t> Converted string-based </a:t>
            </a:r>
            <a:r>
              <a:rPr kumimoji="0" lang="en-US" altLang="en-US" b="0" i="0" u="none" strike="noStrike" cap="none" normalizeH="0" baseline="0" dirty="0">
                <a:ln>
                  <a:noFill/>
                </a:ln>
                <a:solidFill>
                  <a:schemeClr val="tx1"/>
                </a:solidFill>
                <a:effectLst/>
                <a:latin typeface="Arial Unicode MS"/>
              </a:rPr>
              <a:t>Order Date</a:t>
            </a:r>
            <a:r>
              <a:rPr kumimoji="0" lang="en-US" altLang="en-US" b="0" i="0" u="none" strike="noStrike" cap="none" normalizeH="0" baseline="0" dirty="0">
                <a:ln>
                  <a:noFill/>
                </a:ln>
                <a:solidFill>
                  <a:schemeClr val="tx1"/>
                </a:solidFill>
                <a:effectLst/>
              </a:rPr>
              <a:t> and </a:t>
            </a:r>
            <a:r>
              <a:rPr kumimoji="0" lang="en-US" altLang="en-US" b="0" i="0" u="none" strike="noStrike" cap="none" normalizeH="0" baseline="0" dirty="0">
                <a:ln>
                  <a:noFill/>
                </a:ln>
                <a:solidFill>
                  <a:schemeClr val="tx1"/>
                </a:solidFill>
                <a:effectLst/>
                <a:latin typeface="Arial Unicode MS"/>
              </a:rPr>
              <a:t>Ship Date</a:t>
            </a:r>
            <a:r>
              <a:rPr kumimoji="0" lang="en-US" altLang="en-US" b="0" i="0" u="none" strike="noStrike" cap="none" normalizeH="0" baseline="0" dirty="0">
                <a:ln>
                  <a:noFill/>
                </a:ln>
                <a:solidFill>
                  <a:schemeClr val="tx1"/>
                </a:solidFill>
                <a:effectLst/>
              </a:rPr>
              <a:t> fields into standardized </a:t>
            </a:r>
            <a:r>
              <a:rPr kumimoji="0" lang="en-US" altLang="en-US" b="0" i="0" u="none" strike="noStrike" cap="none" normalizeH="0" baseline="0" dirty="0">
                <a:ln>
                  <a:noFill/>
                </a:ln>
                <a:solidFill>
                  <a:schemeClr val="tx1"/>
                </a:solidFill>
                <a:effectLst/>
                <a:latin typeface="Arial Unicode MS"/>
              </a:rPr>
              <a:t>datetime64[ns]</a:t>
            </a:r>
            <a:r>
              <a:rPr kumimoji="0" lang="en-US" altLang="en-US" b="0" i="0" u="none" strike="noStrike" cap="none" normalizeH="0" baseline="0" dirty="0">
                <a:ln>
                  <a:noFill/>
                </a:ln>
                <a:solidFill>
                  <a:schemeClr val="tx1"/>
                </a:solidFill>
                <a:effectLst/>
              </a:rPr>
              <a:t> object types to enable temporal operations.</a:t>
            </a:r>
            <a:endParaRPr kumimoji="0" lang="en-US" altLang="en-US" b="0" i="0" u="none" strike="noStrike" cap="none" normalizeH="0" baseline="0" dirty="0">
              <a:ln>
                <a:noFill/>
              </a:ln>
              <a:solidFill>
                <a:schemeClr val="tx1"/>
              </a:solidFill>
              <a:effectLst/>
              <a:latin typeface="Arial" panose="020B0604020202020204" pitchFamily="34" charset="0"/>
            </a:endParaRPr>
          </a:p>
          <a:p>
            <a:pPr defTabSz="914400" eaLnBrk="0" fontAlgn="base" hangingPunct="0">
              <a:spcBef>
                <a:spcPct val="0"/>
              </a:spcBef>
              <a:spcAft>
                <a:spcPct val="0"/>
              </a:spcAft>
              <a:buClrTx/>
              <a:buFont typeface="Courier New" panose="02070309020205020404" pitchFamily="49" charset="0"/>
              <a:buChar char="o"/>
            </a:pPr>
            <a:r>
              <a:rPr kumimoji="0" lang="en-US" altLang="en-US" b="1" i="0" u="none" strike="noStrike" cap="none" normalizeH="0" baseline="0" dirty="0">
                <a:ln>
                  <a:noFill/>
                </a:ln>
                <a:solidFill>
                  <a:schemeClr val="tx1"/>
                </a:solidFill>
                <a:effectLst/>
                <a:latin typeface="Arial" panose="020B0604020202020204" pitchFamily="34" charset="0"/>
              </a:rPr>
              <a:t>Seasonality Tracking:</a:t>
            </a:r>
            <a:r>
              <a:rPr kumimoji="0" lang="en-US" altLang="en-US" b="0" i="0" u="none" strike="noStrike" cap="none" normalizeH="0" baseline="0" dirty="0">
                <a:ln>
                  <a:noFill/>
                </a:ln>
                <a:solidFill>
                  <a:schemeClr val="tx1"/>
                </a:solidFill>
                <a:effectLst/>
                <a:latin typeface="Arial" panose="020B0604020202020204" pitchFamily="34" charset="0"/>
              </a:rPr>
              <a:t> Extracted explicit </a:t>
            </a:r>
            <a:r>
              <a:rPr kumimoji="0" lang="en-US" altLang="en-US" b="0" i="0" u="none" strike="noStrike" cap="none" normalizeH="0" baseline="0" dirty="0">
                <a:ln>
                  <a:noFill/>
                </a:ln>
                <a:solidFill>
                  <a:schemeClr val="tx1"/>
                </a:solidFill>
                <a:effectLst/>
                <a:latin typeface="Arial Unicode MS"/>
              </a:rPr>
              <a:t>Order Year</a:t>
            </a:r>
            <a:r>
              <a:rPr kumimoji="0" lang="en-US" altLang="en-US" b="0" i="0" u="none" strike="noStrike" cap="none" normalizeH="0" baseline="0" dirty="0">
                <a:ln>
                  <a:noFill/>
                </a:ln>
                <a:solidFill>
                  <a:schemeClr val="tx1"/>
                </a:solidFill>
                <a:effectLst/>
              </a:rPr>
              <a:t> and </a:t>
            </a:r>
            <a:r>
              <a:rPr kumimoji="0" lang="en-US" altLang="en-US" b="0" i="0" u="none" strike="noStrike" cap="none" normalizeH="0" baseline="0" dirty="0">
                <a:ln>
                  <a:noFill/>
                </a:ln>
                <a:solidFill>
                  <a:schemeClr val="tx1"/>
                </a:solidFill>
                <a:effectLst/>
                <a:latin typeface="Arial Unicode MS"/>
              </a:rPr>
              <a:t>Order Month</a:t>
            </a:r>
            <a:r>
              <a:rPr kumimoji="0" lang="en-US" altLang="en-US" b="0" i="0" u="none" strike="noStrike" cap="none" normalizeH="0" baseline="0" dirty="0">
                <a:ln>
                  <a:noFill/>
                </a:ln>
                <a:solidFill>
                  <a:schemeClr val="tx1"/>
                </a:solidFill>
                <a:effectLst/>
              </a:rPr>
              <a:t> dimensions to evaluate annual growth trends and track recurring Q4 sales spikes.</a:t>
            </a:r>
            <a:endParaRPr kumimoji="0" lang="en-US" altLang="en-US" b="0" i="0" u="none" strike="noStrike" cap="none" normalizeH="0" baseline="0" dirty="0">
              <a:ln>
                <a:noFill/>
              </a:ln>
              <a:solidFill>
                <a:schemeClr val="tx1"/>
              </a:solidFill>
              <a:effectLst/>
              <a:latin typeface="Arial" panose="020B0604020202020204" pitchFamily="34" charset="0"/>
            </a:endParaRPr>
          </a:p>
          <a:p>
            <a:pPr defTabSz="914400" eaLnBrk="0" fontAlgn="base" hangingPunct="0">
              <a:spcBef>
                <a:spcPct val="0"/>
              </a:spcBef>
              <a:spcAft>
                <a:spcPct val="0"/>
              </a:spcAft>
              <a:buClrTx/>
              <a:buFont typeface="Courier New" panose="02070309020205020404" pitchFamily="49" charset="0"/>
              <a:buChar char="o"/>
            </a:pPr>
            <a:r>
              <a:rPr kumimoji="0" lang="en-US" altLang="en-US" b="1" i="0" u="none" strike="noStrike" cap="none" normalizeH="0" baseline="0" dirty="0">
                <a:ln>
                  <a:noFill/>
                </a:ln>
                <a:solidFill>
                  <a:schemeClr val="tx1"/>
                </a:solidFill>
                <a:effectLst/>
                <a:latin typeface="Arial" panose="020B0604020202020204" pitchFamily="34" charset="0"/>
              </a:rPr>
              <a:t>Logistics Performance Metric:</a:t>
            </a:r>
            <a:r>
              <a:rPr kumimoji="0" lang="en-US" altLang="en-US" b="0" i="0" u="none" strike="noStrike" cap="none" normalizeH="0" baseline="0" dirty="0">
                <a:ln>
                  <a:noFill/>
                </a:ln>
                <a:solidFill>
                  <a:schemeClr val="tx1"/>
                </a:solidFill>
                <a:effectLst/>
                <a:latin typeface="Arial" panose="020B0604020202020204" pitchFamily="34" charset="0"/>
              </a:rPr>
              <a:t> Calculated </a:t>
            </a:r>
            <a:r>
              <a:rPr kumimoji="0" lang="en-US" altLang="en-US" b="0" i="0" u="none" strike="noStrike" cap="none" normalizeH="0" baseline="0" dirty="0">
                <a:ln>
                  <a:noFill/>
                </a:ln>
                <a:solidFill>
                  <a:schemeClr val="tx1"/>
                </a:solidFill>
                <a:effectLst/>
                <a:latin typeface="Arial Unicode MS"/>
              </a:rPr>
              <a:t>Ship Duration (Days)</a:t>
            </a:r>
            <a:r>
              <a:rPr kumimoji="0" lang="en-US" altLang="en-US" b="0" i="0" u="none" strike="noStrike" cap="none" normalizeH="0" baseline="0" dirty="0">
                <a:ln>
                  <a:noFill/>
                </a:ln>
                <a:solidFill>
                  <a:schemeClr val="tx1"/>
                </a:solidFill>
                <a:effectLst/>
              </a:rPr>
              <a:t> by measuring the elapsed time between order placement and fulfillment (</a:t>
            </a:r>
            <a:r>
              <a:rPr kumimoji="0" lang="en-US" altLang="en-US" b="0" i="0" u="none" strike="noStrike" cap="none" normalizeH="0" baseline="0" dirty="0">
                <a:ln>
                  <a:noFill/>
                </a:ln>
                <a:solidFill>
                  <a:schemeClr val="tx1"/>
                </a:solidFill>
                <a:effectLst/>
                <a:latin typeface="Arial Unicode MS"/>
              </a:rPr>
              <a:t>Ship Date</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a:ln>
                  <a:noFill/>
                </a:ln>
                <a:solidFill>
                  <a:schemeClr val="tx1"/>
                </a:solidFill>
                <a:effectLst/>
                <a:latin typeface="Arial Unicode MS"/>
              </a:rPr>
              <a:t>Order Date</a:t>
            </a:r>
            <a:r>
              <a:rPr kumimoji="0" lang="en-US" altLang="en-US" b="0" i="0" u="none" strike="noStrike" cap="none" normalizeH="0" baseline="0" dirty="0">
                <a:ln>
                  <a:noFill/>
                </a:ln>
                <a:solidFill>
                  <a:schemeClr val="tx1"/>
                </a:solidFill>
                <a:effectLst/>
              </a:rPr>
              <a:t>), establishing an average fulfillment benchmark of </a:t>
            </a:r>
            <a:r>
              <a:rPr kumimoji="0" lang="en-US" altLang="en-US" b="1" i="0" u="none" strike="noStrike" cap="none" normalizeH="0" baseline="0" dirty="0">
                <a:ln>
                  <a:noFill/>
                </a:ln>
                <a:solidFill>
                  <a:schemeClr val="tx1"/>
                </a:solidFill>
                <a:effectLst/>
                <a:latin typeface="Arial" panose="020B0604020202020204" pitchFamily="34" charset="0"/>
              </a:rPr>
              <a:t>3.96 days</a:t>
            </a:r>
            <a:r>
              <a:rPr kumimoji="0" lang="en-US" altLang="en-US" b="0" i="0" u="none" strike="noStrike" cap="none" normalizeH="0" baseline="0" dirty="0">
                <a:ln>
                  <a:noFill/>
                </a:ln>
                <a:solidFill>
                  <a:schemeClr val="tx1"/>
                </a:solidFill>
                <a:effectLst/>
                <a:latin typeface="Arial" panose="020B0604020202020204" pitchFamily="34" charset="0"/>
              </a:rPr>
              <a:t> across all shipping modes.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pic>
        <p:nvPicPr>
          <p:cNvPr id="7" name="Picture 6">
            <a:extLst>
              <a:ext uri="{FF2B5EF4-FFF2-40B4-BE49-F238E27FC236}">
                <a16:creationId xmlns:a16="http://schemas.microsoft.com/office/drawing/2014/main" id="{936029DE-3D7F-A621-E560-BE529169F344}"/>
              </a:ext>
            </a:extLst>
          </p:cNvPr>
          <p:cNvPicPr>
            <a:picLocks noChangeAspect="1"/>
          </p:cNvPicPr>
          <p:nvPr/>
        </p:nvPicPr>
        <p:blipFill>
          <a:blip r:embed="rId2">
            <a:alphaModFix amt="35000"/>
            <a:extLst>
              <a:ext uri="{28A0092B-C50C-407E-A947-70E740481C1C}">
                <a14:useLocalDpi xmlns:a14="http://schemas.microsoft.com/office/drawing/2010/main" val="0"/>
              </a:ext>
            </a:extLst>
          </a:blip>
          <a:stretch>
            <a:fillRect/>
          </a:stretch>
        </p:blipFill>
        <p:spPr>
          <a:xfrm>
            <a:off x="10561320" y="6314440"/>
            <a:ext cx="1630680" cy="543560"/>
          </a:xfrm>
          <a:prstGeom prst="rect">
            <a:avLst/>
          </a:prstGeom>
        </p:spPr>
      </p:pic>
    </p:spTree>
    <p:extLst>
      <p:ext uri="{BB962C8B-B14F-4D97-AF65-F5344CB8AC3E}">
        <p14:creationId xmlns:p14="http://schemas.microsoft.com/office/powerpoint/2010/main" val="36004396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C4441-EF39-3871-A08E-A27BF5B20413}"/>
              </a:ext>
            </a:extLst>
          </p:cNvPr>
          <p:cNvSpPr>
            <a:spLocks noGrp="1"/>
          </p:cNvSpPr>
          <p:nvPr>
            <p:ph type="title"/>
          </p:nvPr>
        </p:nvSpPr>
        <p:spPr>
          <a:xfrm>
            <a:off x="1751677" y="624110"/>
            <a:ext cx="8911687" cy="802354"/>
          </a:xfrm>
        </p:spPr>
        <p:txBody>
          <a:bodyPr/>
          <a:lstStyle/>
          <a:p>
            <a:r>
              <a:rPr lang="en-US" dirty="0"/>
              <a:t>Exploratory Data Analysis (EDA)</a:t>
            </a:r>
            <a:endParaRPr lang="en-IN" dirty="0"/>
          </a:p>
        </p:txBody>
      </p:sp>
      <p:sp>
        <p:nvSpPr>
          <p:cNvPr id="3" name="Content Placeholder 2">
            <a:extLst>
              <a:ext uri="{FF2B5EF4-FFF2-40B4-BE49-F238E27FC236}">
                <a16:creationId xmlns:a16="http://schemas.microsoft.com/office/drawing/2014/main" id="{8900D9A2-C31A-D72B-B0B1-D8FE938EC673}"/>
              </a:ext>
            </a:extLst>
          </p:cNvPr>
          <p:cNvSpPr>
            <a:spLocks noGrp="1"/>
          </p:cNvSpPr>
          <p:nvPr>
            <p:ph idx="1"/>
          </p:nvPr>
        </p:nvSpPr>
        <p:spPr>
          <a:xfrm>
            <a:off x="1751677" y="1655064"/>
            <a:ext cx="9102251" cy="4256158"/>
          </a:xfrm>
        </p:spPr>
        <p:txBody>
          <a:bodyPr>
            <a:normAutofit fontScale="92500" lnSpcReduction="10000"/>
          </a:bodyPr>
          <a:lstStyle/>
          <a:p>
            <a:pPr marL="0" indent="0">
              <a:buNone/>
            </a:pPr>
            <a:r>
              <a:rPr lang="en-IN" b="1" dirty="0"/>
              <a:t>Statistical Distributions</a:t>
            </a:r>
            <a:br>
              <a:rPr lang="en-US" dirty="0"/>
            </a:br>
            <a:r>
              <a:rPr lang="en-US" dirty="0"/>
              <a:t>Some important behavioral insights discovered during the process of exploratory data analysis in sales, discounts, and profit margins on $9,994 transactions are:</a:t>
            </a:r>
          </a:p>
          <a:p>
            <a:r>
              <a:rPr lang="en-US" dirty="0"/>
              <a:t>Revenue-Profit Correlation (r = 0.48): There is a moderately strong positive relationship between the total Sales and Profit. Although high-priced items contribute towards greater revenues, higher volume of sales do not guarantee higher profits because of the different cost structures and discounts.</a:t>
            </a:r>
          </a:p>
          <a:p>
            <a:r>
              <a:rPr lang="en-US" dirty="0"/>
              <a:t>Discount-Profits Correlation (r = -0.22): There is a very strong negative relationship between the discount rates and the profits. The more percentage of discount offered, the faster the profits are reduced.</a:t>
            </a:r>
          </a:p>
          <a:p>
            <a:r>
              <a:rPr lang="en-US" dirty="0"/>
              <a:t>Profit Outliers Analysis using (IQR): The use of IQR method to identify outliers (1.5 x IQR) identified 1,881 profit outliers. The highly negative outliers are almost exclusively linked with high promotional discounts (&gt; 30%), while the positive outliers are related to high-profit margin Technology category with zero discounts (Copiers).</a:t>
            </a:r>
            <a:endParaRPr lang="en-IN" dirty="0"/>
          </a:p>
        </p:txBody>
      </p:sp>
      <p:pic>
        <p:nvPicPr>
          <p:cNvPr id="4" name="Picture 3">
            <a:extLst>
              <a:ext uri="{FF2B5EF4-FFF2-40B4-BE49-F238E27FC236}">
                <a16:creationId xmlns:a16="http://schemas.microsoft.com/office/drawing/2014/main" id="{C7F9B333-F8B3-FF51-2082-F201AFEA8FC7}"/>
              </a:ext>
            </a:extLst>
          </p:cNvPr>
          <p:cNvPicPr>
            <a:picLocks noChangeAspect="1"/>
          </p:cNvPicPr>
          <p:nvPr/>
        </p:nvPicPr>
        <p:blipFill>
          <a:blip r:embed="rId2">
            <a:alphaModFix amt="35000"/>
            <a:extLst>
              <a:ext uri="{28A0092B-C50C-407E-A947-70E740481C1C}">
                <a14:useLocalDpi xmlns:a14="http://schemas.microsoft.com/office/drawing/2010/main" val="0"/>
              </a:ext>
            </a:extLst>
          </a:blip>
          <a:stretch>
            <a:fillRect/>
          </a:stretch>
        </p:blipFill>
        <p:spPr>
          <a:xfrm>
            <a:off x="10561320" y="6314440"/>
            <a:ext cx="1630680" cy="543560"/>
          </a:xfrm>
          <a:prstGeom prst="rect">
            <a:avLst/>
          </a:prstGeom>
        </p:spPr>
      </p:pic>
    </p:spTree>
    <p:extLst>
      <p:ext uri="{BB962C8B-B14F-4D97-AF65-F5344CB8AC3E}">
        <p14:creationId xmlns:p14="http://schemas.microsoft.com/office/powerpoint/2010/main" val="16098738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32DCA-5656-AB75-0F7C-CF888574C632}"/>
              </a:ext>
            </a:extLst>
          </p:cNvPr>
          <p:cNvSpPr>
            <a:spLocks noGrp="1"/>
          </p:cNvSpPr>
          <p:nvPr>
            <p:ph type="title"/>
          </p:nvPr>
        </p:nvSpPr>
        <p:spPr>
          <a:xfrm>
            <a:off x="1733389" y="573033"/>
            <a:ext cx="8911687" cy="747490"/>
          </a:xfrm>
        </p:spPr>
        <p:txBody>
          <a:bodyPr/>
          <a:lstStyle/>
          <a:p>
            <a:r>
              <a:rPr lang="en-IN" dirty="0"/>
              <a:t>Visualizations Overview</a:t>
            </a:r>
          </a:p>
        </p:txBody>
      </p:sp>
      <p:sp>
        <p:nvSpPr>
          <p:cNvPr id="3" name="Content Placeholder 2">
            <a:extLst>
              <a:ext uri="{FF2B5EF4-FFF2-40B4-BE49-F238E27FC236}">
                <a16:creationId xmlns:a16="http://schemas.microsoft.com/office/drawing/2014/main" id="{D0EB13E2-D20D-969B-C064-C3179CC9F9CB}"/>
              </a:ext>
            </a:extLst>
          </p:cNvPr>
          <p:cNvSpPr>
            <a:spLocks noGrp="1"/>
          </p:cNvSpPr>
          <p:nvPr>
            <p:ph idx="1"/>
          </p:nvPr>
        </p:nvSpPr>
        <p:spPr>
          <a:xfrm>
            <a:off x="1733389" y="1540188"/>
            <a:ext cx="9316323" cy="4621329"/>
          </a:xfrm>
        </p:spPr>
        <p:txBody>
          <a:bodyPr>
            <a:normAutofit fontScale="92500" lnSpcReduction="20000"/>
          </a:bodyPr>
          <a:lstStyle/>
          <a:p>
            <a:pPr marL="0" indent="0">
              <a:buNone/>
            </a:pPr>
            <a:r>
              <a:rPr lang="en-US" dirty="0"/>
              <a:t>The project comprises five key statistical and business-related charts analyzing margins, discounting practices, and sales distribution:</a:t>
            </a:r>
          </a:p>
          <a:p>
            <a:r>
              <a:rPr lang="en-US" b="1" dirty="0"/>
              <a:t>Correlation Heatmap (correlation_heatmap.png): </a:t>
            </a:r>
            <a:r>
              <a:rPr lang="en-US" dirty="0"/>
              <a:t>Feature matrix revealing a positive correlation between Sales and Profit (r = 0.48) and a strong negative correlation between Discount and Profit (r = -0.22).</a:t>
            </a:r>
          </a:p>
          <a:p>
            <a:r>
              <a:rPr lang="en-US" b="1" dirty="0"/>
              <a:t>Category Performance Detailed Chart (category_performance_detailed.png): </a:t>
            </a:r>
            <a:r>
              <a:rPr lang="en-US" dirty="0"/>
              <a:t>Two-axis chart showing that Technology is the leader in terms of net profit (17.39% margin / $145.45K), whereas Furniture experiences significant margin pressure (2.49% margin $18.45 k profit).</a:t>
            </a:r>
          </a:p>
          <a:p>
            <a:r>
              <a:rPr lang="en-US" b="1" dirty="0"/>
              <a:t>Monthly Sales &amp; Profit Trend Chart (sales_profit_trend.png):</a:t>
            </a:r>
            <a:r>
              <a:rPr lang="en-US" dirty="0"/>
              <a:t> Time series multi-line chart showing yearly revenue increase and seasonal Q4 spikes.</a:t>
            </a:r>
          </a:p>
          <a:p>
            <a:r>
              <a:rPr lang="en-US" b="1" dirty="0"/>
              <a:t>Individual Segmentation Distribution Chart (segment_distribution_donut.png): </a:t>
            </a:r>
            <a:r>
              <a:rPr lang="en-US" dirty="0"/>
              <a:t>Donut chart illustrating that Consumer dominates in terms of sales (50.56% share / $1.16M, whereas Home Office shows the best profit margin (14.03%).</a:t>
            </a:r>
          </a:p>
          <a:p>
            <a:r>
              <a:rPr lang="en-US" b="1" dirty="0"/>
              <a:t>Discount &amp; Profitability Correlation (discount_profit_correlation.png):</a:t>
            </a:r>
            <a:r>
              <a:rPr lang="en-US" dirty="0"/>
              <a:t> Scatter plot showing a drop to negative margins after 20% discounts (dropping from -10.05% margin at 30%</a:t>
            </a:r>
            <a:endParaRPr lang="en-IN" dirty="0"/>
          </a:p>
        </p:txBody>
      </p:sp>
      <p:pic>
        <p:nvPicPr>
          <p:cNvPr id="14" name="Picture 13">
            <a:extLst>
              <a:ext uri="{FF2B5EF4-FFF2-40B4-BE49-F238E27FC236}">
                <a16:creationId xmlns:a16="http://schemas.microsoft.com/office/drawing/2014/main" id="{F2C98A31-A55E-8985-1C36-215003495390}"/>
              </a:ext>
            </a:extLst>
          </p:cNvPr>
          <p:cNvPicPr>
            <a:picLocks noChangeAspect="1"/>
          </p:cNvPicPr>
          <p:nvPr/>
        </p:nvPicPr>
        <p:blipFill>
          <a:blip r:embed="rId2">
            <a:alphaModFix amt="35000"/>
            <a:extLst>
              <a:ext uri="{28A0092B-C50C-407E-A947-70E740481C1C}">
                <a14:useLocalDpi xmlns:a14="http://schemas.microsoft.com/office/drawing/2010/main" val="0"/>
              </a:ext>
            </a:extLst>
          </a:blip>
          <a:stretch>
            <a:fillRect/>
          </a:stretch>
        </p:blipFill>
        <p:spPr>
          <a:xfrm>
            <a:off x="10561320" y="6314440"/>
            <a:ext cx="1630680" cy="543560"/>
          </a:xfrm>
          <a:prstGeom prst="rect">
            <a:avLst/>
          </a:prstGeom>
        </p:spPr>
      </p:pic>
    </p:spTree>
    <p:extLst>
      <p:ext uri="{BB962C8B-B14F-4D97-AF65-F5344CB8AC3E}">
        <p14:creationId xmlns:p14="http://schemas.microsoft.com/office/powerpoint/2010/main" val="39366567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AFD0911-541A-F7C1-4E81-A136D5F159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31722" y="3303212"/>
            <a:ext cx="3026266" cy="1891416"/>
          </a:xfrm>
          <a:prstGeom prst="rect">
            <a:avLst/>
          </a:prstGeom>
        </p:spPr>
      </p:pic>
      <p:pic>
        <p:nvPicPr>
          <p:cNvPr id="7" name="Picture 6">
            <a:extLst>
              <a:ext uri="{FF2B5EF4-FFF2-40B4-BE49-F238E27FC236}">
                <a16:creationId xmlns:a16="http://schemas.microsoft.com/office/drawing/2014/main" id="{5DD60617-2D9C-0F03-78B3-22139AB17D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40464" y="440112"/>
            <a:ext cx="3384143" cy="2030486"/>
          </a:xfrm>
          <a:prstGeom prst="rect">
            <a:avLst/>
          </a:prstGeom>
        </p:spPr>
      </p:pic>
      <p:pic>
        <p:nvPicPr>
          <p:cNvPr id="9" name="Picture 8">
            <a:extLst>
              <a:ext uri="{FF2B5EF4-FFF2-40B4-BE49-F238E27FC236}">
                <a16:creationId xmlns:a16="http://schemas.microsoft.com/office/drawing/2014/main" id="{ABA5C5EF-1660-B194-3273-C4F3DB893DA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30941" y="51"/>
            <a:ext cx="3549360" cy="2662020"/>
          </a:xfrm>
          <a:prstGeom prst="rect">
            <a:avLst/>
          </a:prstGeom>
        </p:spPr>
      </p:pic>
      <p:pic>
        <p:nvPicPr>
          <p:cNvPr id="11" name="Picture 10">
            <a:extLst>
              <a:ext uri="{FF2B5EF4-FFF2-40B4-BE49-F238E27FC236}">
                <a16:creationId xmlns:a16="http://schemas.microsoft.com/office/drawing/2014/main" id="{BF085FC2-3E61-0249-15C1-916EB02CEF6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6719" y="4260848"/>
            <a:ext cx="3283009" cy="1969806"/>
          </a:xfrm>
          <a:prstGeom prst="rect">
            <a:avLst/>
          </a:prstGeom>
        </p:spPr>
      </p:pic>
      <p:pic>
        <p:nvPicPr>
          <p:cNvPr id="13" name="Picture 12">
            <a:extLst>
              <a:ext uri="{FF2B5EF4-FFF2-40B4-BE49-F238E27FC236}">
                <a16:creationId xmlns:a16="http://schemas.microsoft.com/office/drawing/2014/main" id="{245073A1-34CE-B734-0C24-E023AD74DAB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852274" y="3712620"/>
            <a:ext cx="4227320" cy="2113660"/>
          </a:xfrm>
          <a:prstGeom prst="rect">
            <a:avLst/>
          </a:prstGeom>
        </p:spPr>
      </p:pic>
      <p:pic>
        <p:nvPicPr>
          <p:cNvPr id="15" name="Picture 14">
            <a:extLst>
              <a:ext uri="{FF2B5EF4-FFF2-40B4-BE49-F238E27FC236}">
                <a16:creationId xmlns:a16="http://schemas.microsoft.com/office/drawing/2014/main" id="{D66B6170-D913-8BE7-6461-79807CD0687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065011" y="578563"/>
            <a:ext cx="2685511" cy="2685511"/>
          </a:xfrm>
          <a:prstGeom prst="rect">
            <a:avLst/>
          </a:prstGeom>
        </p:spPr>
      </p:pic>
      <p:sp>
        <p:nvSpPr>
          <p:cNvPr id="17" name="TextBox 16">
            <a:extLst>
              <a:ext uri="{FF2B5EF4-FFF2-40B4-BE49-F238E27FC236}">
                <a16:creationId xmlns:a16="http://schemas.microsoft.com/office/drawing/2014/main" id="{B26ACABC-01BC-C9B3-4C0F-18186989A22C}"/>
              </a:ext>
            </a:extLst>
          </p:cNvPr>
          <p:cNvSpPr txBox="1"/>
          <p:nvPr/>
        </p:nvSpPr>
        <p:spPr>
          <a:xfrm>
            <a:off x="1671021" y="2767026"/>
            <a:ext cx="2685511" cy="374468"/>
          </a:xfrm>
          <a:prstGeom prst="rect">
            <a:avLst/>
          </a:prstGeom>
          <a:noFill/>
        </p:spPr>
        <p:txBody>
          <a:bodyPr wrap="square" rtlCol="0">
            <a:spAutoFit/>
          </a:bodyPr>
          <a:lstStyle/>
          <a:p>
            <a:r>
              <a:rPr lang="en-US" b="1" dirty="0"/>
              <a:t>Correlation Heatmap</a:t>
            </a:r>
            <a:endParaRPr lang="en-IN" dirty="0"/>
          </a:p>
        </p:txBody>
      </p:sp>
      <p:sp>
        <p:nvSpPr>
          <p:cNvPr id="18" name="TextBox 17">
            <a:extLst>
              <a:ext uri="{FF2B5EF4-FFF2-40B4-BE49-F238E27FC236}">
                <a16:creationId xmlns:a16="http://schemas.microsoft.com/office/drawing/2014/main" id="{56F6BE09-C571-5FA7-FF89-73EF5080321E}"/>
              </a:ext>
            </a:extLst>
          </p:cNvPr>
          <p:cNvSpPr txBox="1"/>
          <p:nvPr/>
        </p:nvSpPr>
        <p:spPr>
          <a:xfrm>
            <a:off x="4563456" y="5140748"/>
            <a:ext cx="3204479" cy="646331"/>
          </a:xfrm>
          <a:prstGeom prst="rect">
            <a:avLst/>
          </a:prstGeom>
          <a:noFill/>
        </p:spPr>
        <p:txBody>
          <a:bodyPr wrap="square" rtlCol="0">
            <a:spAutoFit/>
          </a:bodyPr>
          <a:lstStyle/>
          <a:p>
            <a:r>
              <a:rPr lang="en-IN" b="1" dirty="0"/>
              <a:t>Category Performance &amp; Analysis</a:t>
            </a:r>
          </a:p>
        </p:txBody>
      </p:sp>
      <p:sp>
        <p:nvSpPr>
          <p:cNvPr id="19" name="TextBox 18">
            <a:extLst>
              <a:ext uri="{FF2B5EF4-FFF2-40B4-BE49-F238E27FC236}">
                <a16:creationId xmlns:a16="http://schemas.microsoft.com/office/drawing/2014/main" id="{BC131C2E-B0E0-256E-C7D8-A22DCDECA461}"/>
              </a:ext>
            </a:extLst>
          </p:cNvPr>
          <p:cNvSpPr txBox="1"/>
          <p:nvPr/>
        </p:nvSpPr>
        <p:spPr>
          <a:xfrm>
            <a:off x="5173318" y="2356885"/>
            <a:ext cx="3898676" cy="646331"/>
          </a:xfrm>
          <a:prstGeom prst="rect">
            <a:avLst/>
          </a:prstGeom>
          <a:noFill/>
        </p:spPr>
        <p:txBody>
          <a:bodyPr wrap="square" rtlCol="0">
            <a:spAutoFit/>
          </a:bodyPr>
          <a:lstStyle/>
          <a:p>
            <a:r>
              <a:rPr lang="en-IN" b="1" dirty="0"/>
              <a:t>Category Performance &amp; Analysis</a:t>
            </a:r>
          </a:p>
        </p:txBody>
      </p:sp>
      <p:sp>
        <p:nvSpPr>
          <p:cNvPr id="20" name="TextBox 19">
            <a:extLst>
              <a:ext uri="{FF2B5EF4-FFF2-40B4-BE49-F238E27FC236}">
                <a16:creationId xmlns:a16="http://schemas.microsoft.com/office/drawing/2014/main" id="{88B2D004-36D6-4219-B068-95EB4FDFA9A9}"/>
              </a:ext>
            </a:extLst>
          </p:cNvPr>
          <p:cNvSpPr txBox="1"/>
          <p:nvPr/>
        </p:nvSpPr>
        <p:spPr>
          <a:xfrm>
            <a:off x="1012386" y="6247743"/>
            <a:ext cx="3176438" cy="646331"/>
          </a:xfrm>
          <a:prstGeom prst="rect">
            <a:avLst/>
          </a:prstGeom>
          <a:noFill/>
        </p:spPr>
        <p:txBody>
          <a:bodyPr wrap="square" rtlCol="0">
            <a:spAutoFit/>
          </a:bodyPr>
          <a:lstStyle/>
          <a:p>
            <a:r>
              <a:rPr lang="en-IN" b="1" dirty="0"/>
              <a:t>Discount &amp; Profitability Analysis</a:t>
            </a:r>
          </a:p>
        </p:txBody>
      </p:sp>
      <p:sp>
        <p:nvSpPr>
          <p:cNvPr id="21" name="TextBox 20">
            <a:extLst>
              <a:ext uri="{FF2B5EF4-FFF2-40B4-BE49-F238E27FC236}">
                <a16:creationId xmlns:a16="http://schemas.microsoft.com/office/drawing/2014/main" id="{43702305-3841-5D8A-4520-01F8E08885D7}"/>
              </a:ext>
            </a:extLst>
          </p:cNvPr>
          <p:cNvSpPr txBox="1"/>
          <p:nvPr/>
        </p:nvSpPr>
        <p:spPr>
          <a:xfrm>
            <a:off x="8649170" y="5885694"/>
            <a:ext cx="3176439" cy="369332"/>
          </a:xfrm>
          <a:prstGeom prst="rect">
            <a:avLst/>
          </a:prstGeom>
          <a:noFill/>
        </p:spPr>
        <p:txBody>
          <a:bodyPr wrap="square" rtlCol="0">
            <a:spAutoFit/>
          </a:bodyPr>
          <a:lstStyle/>
          <a:p>
            <a:r>
              <a:rPr lang="en-IN" b="1" dirty="0"/>
              <a:t>Time-Series &amp; Sales Trends</a:t>
            </a:r>
          </a:p>
        </p:txBody>
      </p:sp>
      <p:sp>
        <p:nvSpPr>
          <p:cNvPr id="22" name="TextBox 21">
            <a:extLst>
              <a:ext uri="{FF2B5EF4-FFF2-40B4-BE49-F238E27FC236}">
                <a16:creationId xmlns:a16="http://schemas.microsoft.com/office/drawing/2014/main" id="{DD3CFFC7-4295-440F-1D4E-E507AF443598}"/>
              </a:ext>
            </a:extLst>
          </p:cNvPr>
          <p:cNvSpPr txBox="1"/>
          <p:nvPr/>
        </p:nvSpPr>
        <p:spPr>
          <a:xfrm>
            <a:off x="8724257" y="3268997"/>
            <a:ext cx="3026266" cy="369332"/>
          </a:xfrm>
          <a:prstGeom prst="rect">
            <a:avLst/>
          </a:prstGeom>
          <a:noFill/>
        </p:spPr>
        <p:txBody>
          <a:bodyPr wrap="square" rtlCol="0">
            <a:spAutoFit/>
          </a:bodyPr>
          <a:lstStyle/>
          <a:p>
            <a:r>
              <a:rPr lang="en-IN" b="1" dirty="0"/>
              <a:t>Customer Segmentation</a:t>
            </a:r>
          </a:p>
        </p:txBody>
      </p:sp>
      <p:pic>
        <p:nvPicPr>
          <p:cNvPr id="23" name="Picture 22">
            <a:extLst>
              <a:ext uri="{FF2B5EF4-FFF2-40B4-BE49-F238E27FC236}">
                <a16:creationId xmlns:a16="http://schemas.microsoft.com/office/drawing/2014/main" id="{B474BC0E-A2F8-09AD-0C31-F542035DA739}"/>
              </a:ext>
            </a:extLst>
          </p:cNvPr>
          <p:cNvPicPr>
            <a:picLocks noChangeAspect="1"/>
          </p:cNvPicPr>
          <p:nvPr/>
        </p:nvPicPr>
        <p:blipFill>
          <a:blip r:embed="rId8">
            <a:alphaModFix amt="35000"/>
            <a:extLst>
              <a:ext uri="{28A0092B-C50C-407E-A947-70E740481C1C}">
                <a14:useLocalDpi xmlns:a14="http://schemas.microsoft.com/office/drawing/2010/main" val="0"/>
              </a:ext>
            </a:extLst>
          </a:blip>
          <a:stretch>
            <a:fillRect/>
          </a:stretch>
        </p:blipFill>
        <p:spPr>
          <a:xfrm>
            <a:off x="10561320" y="6314440"/>
            <a:ext cx="1630680" cy="543560"/>
          </a:xfrm>
          <a:prstGeom prst="rect">
            <a:avLst/>
          </a:prstGeom>
        </p:spPr>
      </p:pic>
    </p:spTree>
    <p:extLst>
      <p:ext uri="{BB962C8B-B14F-4D97-AF65-F5344CB8AC3E}">
        <p14:creationId xmlns:p14="http://schemas.microsoft.com/office/powerpoint/2010/main" val="41904366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35B9F-58BD-33E1-280E-9C021124F5C9}"/>
              </a:ext>
            </a:extLst>
          </p:cNvPr>
          <p:cNvSpPr>
            <a:spLocks noGrp="1"/>
          </p:cNvSpPr>
          <p:nvPr>
            <p:ph type="title"/>
          </p:nvPr>
        </p:nvSpPr>
        <p:spPr>
          <a:xfrm>
            <a:off x="1704651" y="589276"/>
            <a:ext cx="8911687" cy="812804"/>
          </a:xfrm>
        </p:spPr>
        <p:txBody>
          <a:bodyPr/>
          <a:lstStyle/>
          <a:p>
            <a:r>
              <a:rPr kumimoji="0" lang="en-US" altLang="en-US" b="1" i="0" u="none" strike="noStrike" cap="none" normalizeH="0" baseline="0" dirty="0">
                <a:ln>
                  <a:noFill/>
                </a:ln>
                <a:solidFill>
                  <a:schemeClr val="tx1"/>
                </a:solidFill>
                <a:effectLst/>
                <a:latin typeface="Google Sans"/>
              </a:rPr>
              <a:t>Power BI Dashboard</a:t>
            </a:r>
            <a:endParaRPr lang="en-IN" dirty="0"/>
          </a:p>
        </p:txBody>
      </p:sp>
      <p:sp>
        <p:nvSpPr>
          <p:cNvPr id="4" name="Rectangle 1">
            <a:extLst>
              <a:ext uri="{FF2B5EF4-FFF2-40B4-BE49-F238E27FC236}">
                <a16:creationId xmlns:a16="http://schemas.microsoft.com/office/drawing/2014/main" id="{66AF3749-E58A-F487-A6F8-FFD0F28280B6}"/>
              </a:ext>
            </a:extLst>
          </p:cNvPr>
          <p:cNvSpPr>
            <a:spLocks noGrp="1" noChangeArrowheads="1"/>
          </p:cNvSpPr>
          <p:nvPr>
            <p:ph idx="1"/>
          </p:nvPr>
        </p:nvSpPr>
        <p:spPr bwMode="auto">
          <a:xfrm>
            <a:off x="1600148" y="1420588"/>
            <a:ext cx="10104172" cy="44268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rtl="0"/>
            <a:r>
              <a:rPr lang="en-US" dirty="0">
                <a:effectLst/>
              </a:rPr>
              <a:t>The interactive Power BI dashboard serves as a central reporting solution for executive decision-making and operational performance tracking.</a:t>
            </a:r>
          </a:p>
          <a:p>
            <a:pPr rtl="0">
              <a:buFont typeface="Arial" panose="020B0604020202020204" pitchFamily="34" charset="0"/>
              <a:buChar char="•"/>
            </a:pPr>
            <a:r>
              <a:rPr lang="en-US" b="1" dirty="0">
                <a:effectLst/>
              </a:rPr>
              <a:t>4 Top Executive KPI Cards:</a:t>
            </a:r>
            <a:r>
              <a:rPr lang="en-US" dirty="0">
                <a:effectLst/>
              </a:rPr>
              <a:t> Positioned across the top header banner to provide an immediate snapshot of core performance metrics:</a:t>
            </a:r>
          </a:p>
          <a:p>
            <a:pPr marL="742950" lvl="1" indent="-285750" rtl="0">
              <a:buFont typeface="Arial" panose="020B0604020202020204" pitchFamily="34" charset="0"/>
              <a:buChar char="•"/>
            </a:pPr>
            <a:r>
              <a:rPr lang="en-US" b="1" dirty="0">
                <a:effectLst/>
              </a:rPr>
              <a:t>Total Sales:</a:t>
            </a:r>
            <a:r>
              <a:rPr lang="en-US" dirty="0">
                <a:effectLst/>
              </a:rPr>
              <a:t> $2.30M</a:t>
            </a:r>
          </a:p>
          <a:p>
            <a:pPr marL="742950" lvl="1" indent="-285750" rtl="0">
              <a:buFont typeface="Arial" panose="020B0604020202020204" pitchFamily="34" charset="0"/>
              <a:buChar char="•"/>
            </a:pPr>
            <a:r>
              <a:rPr lang="en-US" b="1" dirty="0">
                <a:effectLst/>
              </a:rPr>
              <a:t>Total Profit:</a:t>
            </a:r>
            <a:r>
              <a:rPr lang="en-US" dirty="0">
                <a:effectLst/>
              </a:rPr>
              <a:t> $286.40K</a:t>
            </a:r>
          </a:p>
          <a:p>
            <a:pPr marL="742950" lvl="1" indent="-285750" rtl="0">
              <a:buFont typeface="Arial" panose="020B0604020202020204" pitchFamily="34" charset="0"/>
              <a:buChar char="•"/>
            </a:pPr>
            <a:r>
              <a:rPr lang="en-US" b="1" dirty="0">
                <a:effectLst/>
              </a:rPr>
              <a:t>Profit Margin:</a:t>
            </a:r>
            <a:r>
              <a:rPr lang="en-US" dirty="0">
                <a:effectLst/>
              </a:rPr>
              <a:t> 12.47%</a:t>
            </a:r>
          </a:p>
          <a:p>
            <a:pPr marL="742950" lvl="1" indent="-285750" rtl="0">
              <a:buFont typeface="Arial" panose="020B0604020202020204" pitchFamily="34" charset="0"/>
              <a:buChar char="•"/>
            </a:pPr>
            <a:r>
              <a:rPr lang="en-US" b="1" dirty="0">
                <a:effectLst/>
              </a:rPr>
              <a:t>Total Orders:</a:t>
            </a:r>
            <a:r>
              <a:rPr lang="en-US" dirty="0">
                <a:effectLst/>
              </a:rPr>
              <a:t> 5,009</a:t>
            </a:r>
          </a:p>
          <a:p>
            <a:pPr rtl="0">
              <a:buFont typeface="Arial" panose="020B0604020202020204" pitchFamily="34" charset="0"/>
              <a:buChar char="•"/>
            </a:pPr>
            <a:r>
              <a:rPr lang="en-US" b="1" dirty="0">
                <a:effectLst/>
              </a:rPr>
              <a:t>Visual Canvas (4 Core Charts):</a:t>
            </a:r>
            <a:endParaRPr lang="en-US" dirty="0">
              <a:effectLst/>
            </a:endParaRPr>
          </a:p>
          <a:p>
            <a:pPr marL="742950" lvl="1" indent="-285750" rtl="0">
              <a:buFont typeface="Arial" panose="020B0604020202020204" pitchFamily="34" charset="0"/>
              <a:buChar char="•"/>
            </a:pPr>
            <a:r>
              <a:rPr lang="en-US" b="1" dirty="0">
                <a:effectLst/>
              </a:rPr>
              <a:t>Category Performance (Clustered Column Chart):</a:t>
            </a:r>
            <a:r>
              <a:rPr lang="en-US" dirty="0">
                <a:effectLst/>
              </a:rPr>
              <a:t> Compares total sales against net profit across product categories to highlight margin divergence.</a:t>
            </a:r>
          </a:p>
          <a:p>
            <a:pPr marL="742950" lvl="1" indent="-285750" rtl="0">
              <a:buFont typeface="Arial" panose="020B0604020202020204" pitchFamily="34" charset="0"/>
              <a:buChar char="•"/>
            </a:pPr>
            <a:r>
              <a:rPr lang="en-US" b="1" dirty="0">
                <a:effectLst/>
              </a:rPr>
              <a:t>Monthly Sales &amp; Profit Trend (Line Chart):</a:t>
            </a:r>
            <a:r>
              <a:rPr lang="en-US" dirty="0">
                <a:effectLst/>
              </a:rPr>
              <a:t> Tracks monthly revenue trajectories and profit trends across 2014–2017 to monitor seasonal demand spikes.</a:t>
            </a:r>
          </a:p>
        </p:txBody>
      </p:sp>
      <p:pic>
        <p:nvPicPr>
          <p:cNvPr id="5" name="Picture 4">
            <a:extLst>
              <a:ext uri="{FF2B5EF4-FFF2-40B4-BE49-F238E27FC236}">
                <a16:creationId xmlns:a16="http://schemas.microsoft.com/office/drawing/2014/main" id="{9C73535A-7B55-B30B-AAE6-A3855A16A404}"/>
              </a:ext>
            </a:extLst>
          </p:cNvPr>
          <p:cNvPicPr>
            <a:picLocks noChangeAspect="1"/>
          </p:cNvPicPr>
          <p:nvPr/>
        </p:nvPicPr>
        <p:blipFill>
          <a:blip r:embed="rId2">
            <a:alphaModFix amt="35000"/>
            <a:extLst>
              <a:ext uri="{28A0092B-C50C-407E-A947-70E740481C1C}">
                <a14:useLocalDpi xmlns:a14="http://schemas.microsoft.com/office/drawing/2010/main" val="0"/>
              </a:ext>
            </a:extLst>
          </a:blip>
          <a:stretch>
            <a:fillRect/>
          </a:stretch>
        </p:blipFill>
        <p:spPr>
          <a:xfrm>
            <a:off x="10561320" y="6314440"/>
            <a:ext cx="1630680" cy="543560"/>
          </a:xfrm>
          <a:prstGeom prst="rect">
            <a:avLst/>
          </a:prstGeom>
        </p:spPr>
      </p:pic>
    </p:spTree>
    <p:extLst>
      <p:ext uri="{BB962C8B-B14F-4D97-AF65-F5344CB8AC3E}">
        <p14:creationId xmlns:p14="http://schemas.microsoft.com/office/powerpoint/2010/main" val="41123190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20D25-8443-9878-6EE0-71F32EC66550}"/>
              </a:ext>
            </a:extLst>
          </p:cNvPr>
          <p:cNvSpPr>
            <a:spLocks noGrp="1"/>
          </p:cNvSpPr>
          <p:nvPr>
            <p:ph type="title"/>
          </p:nvPr>
        </p:nvSpPr>
        <p:spPr>
          <a:xfrm>
            <a:off x="1713359" y="667653"/>
            <a:ext cx="8911687" cy="682176"/>
          </a:xfrm>
        </p:spPr>
        <p:txBody>
          <a:bodyPr/>
          <a:lstStyle/>
          <a:p>
            <a:r>
              <a:rPr kumimoji="0" lang="en-US" altLang="en-US" b="1" i="0" u="none" strike="noStrike" cap="none" normalizeH="0" baseline="0" dirty="0">
                <a:ln>
                  <a:noFill/>
                </a:ln>
                <a:solidFill>
                  <a:schemeClr val="tx1"/>
                </a:solidFill>
                <a:effectLst/>
                <a:latin typeface="Google Sans"/>
              </a:rPr>
              <a:t>Power BI Dashboard</a:t>
            </a:r>
            <a:endParaRPr lang="en-IN" dirty="0"/>
          </a:p>
        </p:txBody>
      </p:sp>
      <p:sp>
        <p:nvSpPr>
          <p:cNvPr id="3" name="Content Placeholder 2">
            <a:extLst>
              <a:ext uri="{FF2B5EF4-FFF2-40B4-BE49-F238E27FC236}">
                <a16:creationId xmlns:a16="http://schemas.microsoft.com/office/drawing/2014/main" id="{763EA8A3-B710-DBB3-94E3-1624D66950B2}"/>
              </a:ext>
            </a:extLst>
          </p:cNvPr>
          <p:cNvSpPr>
            <a:spLocks noGrp="1"/>
          </p:cNvSpPr>
          <p:nvPr>
            <p:ph idx="1"/>
          </p:nvPr>
        </p:nvSpPr>
        <p:spPr>
          <a:xfrm>
            <a:off x="1709646" y="1540189"/>
            <a:ext cx="8915400" cy="3777622"/>
          </a:xfrm>
        </p:spPr>
        <p:txBody>
          <a:bodyPr/>
          <a:lstStyle/>
          <a:p>
            <a:pPr marL="742950" lvl="1" indent="-285750" rtl="0">
              <a:buFont typeface="Arial" panose="020B0604020202020204" pitchFamily="34" charset="0"/>
              <a:buChar char="•"/>
            </a:pPr>
            <a:r>
              <a:rPr lang="en-US" b="1" dirty="0">
                <a:effectLst/>
              </a:rPr>
              <a:t>Regional Sales Distribution (Donut Chart):</a:t>
            </a:r>
            <a:r>
              <a:rPr lang="en-US" dirty="0">
                <a:effectLst/>
              </a:rPr>
              <a:t> Breaks down total revenue proportion across the West, East, Central, and South regions.</a:t>
            </a:r>
          </a:p>
          <a:p>
            <a:pPr marL="742950" lvl="1" indent="-285750" rtl="0">
              <a:buFont typeface="Arial" panose="020B0604020202020204" pitchFamily="34" charset="0"/>
              <a:buChar char="•"/>
            </a:pPr>
            <a:r>
              <a:rPr lang="en-US" b="1" dirty="0">
                <a:effectLst/>
              </a:rPr>
              <a:t>Profitability by Sub-Category (Horizontal Bar Chart):</a:t>
            </a:r>
            <a:r>
              <a:rPr lang="en-US" dirty="0">
                <a:effectLst/>
              </a:rPr>
              <a:t> Displays net profit and losses across all 17 sub-categories, pinpointing underperforming lines like Tables and Bookcases.</a:t>
            </a:r>
          </a:p>
          <a:p>
            <a:pPr rtl="0">
              <a:buFont typeface="Arial" panose="020B0604020202020204" pitchFamily="34" charset="0"/>
              <a:buChar char="•"/>
            </a:pPr>
            <a:r>
              <a:rPr lang="en-US" b="1" dirty="0">
                <a:effectLst/>
              </a:rPr>
              <a:t>Dynamic Interactivity &amp; Slicers:</a:t>
            </a:r>
            <a:r>
              <a:rPr lang="en-US" dirty="0">
                <a:effectLst/>
              </a:rPr>
              <a:t> Equipped with interactive </a:t>
            </a:r>
            <a:r>
              <a:rPr lang="en-US" b="1" dirty="0">
                <a:effectLst/>
              </a:rPr>
              <a:t>Region</a:t>
            </a:r>
            <a:r>
              <a:rPr lang="en-US" dirty="0">
                <a:effectLst/>
              </a:rPr>
              <a:t> and </a:t>
            </a:r>
            <a:r>
              <a:rPr lang="en-US" b="1" dirty="0">
                <a:effectLst/>
              </a:rPr>
              <a:t>Customer Segment</a:t>
            </a:r>
            <a:r>
              <a:rPr lang="en-US" dirty="0">
                <a:effectLst/>
              </a:rPr>
              <a:t> filter slicers, allowing stakeholders to dynamically slice all canvas visual charts and KPI metrics in real time.</a:t>
            </a:r>
          </a:p>
          <a:p>
            <a:endParaRPr lang="en-IN" dirty="0"/>
          </a:p>
        </p:txBody>
      </p:sp>
      <p:pic>
        <p:nvPicPr>
          <p:cNvPr id="4" name="Picture 3">
            <a:extLst>
              <a:ext uri="{FF2B5EF4-FFF2-40B4-BE49-F238E27FC236}">
                <a16:creationId xmlns:a16="http://schemas.microsoft.com/office/drawing/2014/main" id="{4FE557E7-DD79-5C0E-FA85-654C12986F74}"/>
              </a:ext>
            </a:extLst>
          </p:cNvPr>
          <p:cNvPicPr>
            <a:picLocks noChangeAspect="1"/>
          </p:cNvPicPr>
          <p:nvPr/>
        </p:nvPicPr>
        <p:blipFill>
          <a:blip r:embed="rId2">
            <a:alphaModFix amt="35000"/>
            <a:extLst>
              <a:ext uri="{28A0092B-C50C-407E-A947-70E740481C1C}">
                <a14:useLocalDpi xmlns:a14="http://schemas.microsoft.com/office/drawing/2010/main" val="0"/>
              </a:ext>
            </a:extLst>
          </a:blip>
          <a:stretch>
            <a:fillRect/>
          </a:stretch>
        </p:blipFill>
        <p:spPr>
          <a:xfrm>
            <a:off x="10561320" y="6314440"/>
            <a:ext cx="1630680" cy="543560"/>
          </a:xfrm>
          <a:prstGeom prst="rect">
            <a:avLst/>
          </a:prstGeom>
        </p:spPr>
      </p:pic>
      <p:pic>
        <p:nvPicPr>
          <p:cNvPr id="6" name="Picture 5">
            <a:extLst>
              <a:ext uri="{FF2B5EF4-FFF2-40B4-BE49-F238E27FC236}">
                <a16:creationId xmlns:a16="http://schemas.microsoft.com/office/drawing/2014/main" id="{6A44C6CE-21B5-3CE1-225D-54D297BBB1ED}"/>
              </a:ext>
            </a:extLst>
          </p:cNvPr>
          <p:cNvPicPr>
            <a:picLocks noChangeAspect="1"/>
          </p:cNvPicPr>
          <p:nvPr/>
        </p:nvPicPr>
        <p:blipFill>
          <a:blip r:embed="rId3">
            <a:extLst>
              <a:ext uri="{28A0092B-C50C-407E-A947-70E740481C1C}">
                <a14:useLocalDpi xmlns:a14="http://schemas.microsoft.com/office/drawing/2010/main" val="0"/>
              </a:ext>
            </a:extLst>
          </a:blip>
          <a:srcRect l="6572" t="15083" b="5969"/>
          <a:stretch/>
        </p:blipFill>
        <p:spPr>
          <a:xfrm>
            <a:off x="1709646" y="4117357"/>
            <a:ext cx="5286102" cy="2400907"/>
          </a:xfrm>
          <a:prstGeom prst="rect">
            <a:avLst/>
          </a:prstGeom>
        </p:spPr>
      </p:pic>
    </p:spTree>
    <p:extLst>
      <p:ext uri="{BB962C8B-B14F-4D97-AF65-F5344CB8AC3E}">
        <p14:creationId xmlns:p14="http://schemas.microsoft.com/office/powerpoint/2010/main" val="11042726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756AE-8F68-7DD0-2858-42760856437E}"/>
              </a:ext>
            </a:extLst>
          </p:cNvPr>
          <p:cNvSpPr>
            <a:spLocks noGrp="1"/>
          </p:cNvSpPr>
          <p:nvPr>
            <p:ph type="title"/>
          </p:nvPr>
        </p:nvSpPr>
        <p:spPr>
          <a:xfrm>
            <a:off x="1704651" y="601336"/>
            <a:ext cx="8911687" cy="690884"/>
          </a:xfrm>
        </p:spPr>
        <p:txBody>
          <a:bodyPr/>
          <a:lstStyle/>
          <a:p>
            <a:r>
              <a:rPr lang="en-US" b="1" dirty="0"/>
              <a:t>Key Business Insights</a:t>
            </a:r>
            <a:endParaRPr lang="en-IN" dirty="0"/>
          </a:p>
        </p:txBody>
      </p:sp>
      <p:sp>
        <p:nvSpPr>
          <p:cNvPr id="3" name="Content Placeholder 2">
            <a:extLst>
              <a:ext uri="{FF2B5EF4-FFF2-40B4-BE49-F238E27FC236}">
                <a16:creationId xmlns:a16="http://schemas.microsoft.com/office/drawing/2014/main" id="{02A5E469-D7BC-851C-E129-6073F6BFD615}"/>
              </a:ext>
            </a:extLst>
          </p:cNvPr>
          <p:cNvSpPr>
            <a:spLocks noGrp="1"/>
          </p:cNvSpPr>
          <p:nvPr>
            <p:ph idx="1"/>
          </p:nvPr>
        </p:nvSpPr>
        <p:spPr>
          <a:xfrm>
            <a:off x="1704651" y="1292219"/>
            <a:ext cx="9799372" cy="5186957"/>
          </a:xfrm>
        </p:spPr>
        <p:txBody>
          <a:bodyPr>
            <a:noAutofit/>
          </a:bodyPr>
          <a:lstStyle/>
          <a:p>
            <a:pPr>
              <a:buFont typeface="Arial" panose="020B0604020202020204" pitchFamily="34" charset="0"/>
              <a:buChar char="•"/>
            </a:pPr>
            <a:r>
              <a:rPr lang="en-US" b="1" dirty="0"/>
              <a:t>Promotional Discount Risk:</a:t>
            </a:r>
            <a:r>
              <a:rPr lang="en-US" dirty="0"/>
              <a:t> Promotional discounting is the single largest driver of profit erosion across business operations. Sales sold at full price (0% discount) deliver a strong </a:t>
            </a:r>
            <a:r>
              <a:rPr lang="en-US" b="1" dirty="0"/>
              <a:t>29.51% profit margin</a:t>
            </a:r>
            <a:r>
              <a:rPr lang="en-US" dirty="0"/>
              <a:t>, but profitability declines rapidly as discounts increase. Transactions discounted at </a:t>
            </a:r>
            <a:r>
              <a:rPr lang="en-US" b="1" dirty="0"/>
              <a:t>30% or higher</a:t>
            </a:r>
            <a:r>
              <a:rPr lang="en-US" dirty="0"/>
              <a:t> consistently operate at a net loss, escalating to an extreme negative margin of </a:t>
            </a:r>
            <a:r>
              <a:rPr lang="en-US" b="1" dirty="0"/>
              <a:t>-180.03%</a:t>
            </a:r>
            <a:r>
              <a:rPr lang="en-US" dirty="0"/>
              <a:t> on items discounted at 80%.</a:t>
            </a:r>
          </a:p>
          <a:p>
            <a:pPr>
              <a:buFont typeface="Arial" panose="020B0604020202020204" pitchFamily="34" charset="0"/>
              <a:buChar char="•"/>
            </a:pPr>
            <a:r>
              <a:rPr lang="en-US" b="1" dirty="0"/>
              <a:t>Product Category Divergence:</a:t>
            </a:r>
            <a:r>
              <a:rPr lang="en-US" dirty="0"/>
              <a:t> High overall sales figures conceal major structural profitability imbalances across core product categories. </a:t>
            </a:r>
            <a:r>
              <a:rPr lang="en-US" b="1" dirty="0"/>
              <a:t>Technology</a:t>
            </a:r>
            <a:r>
              <a:rPr lang="en-US" dirty="0"/>
              <a:t> serves as the primary growth engine, generating </a:t>
            </a:r>
            <a:r>
              <a:rPr lang="en-US" b="1" dirty="0"/>
              <a:t>50.8% of total company profit</a:t>
            </a:r>
            <a:r>
              <a:rPr lang="en-US" dirty="0"/>
              <a:t> ($145.45K) at a healthy 17.39% margin. In contrast, </a:t>
            </a:r>
            <a:r>
              <a:rPr lang="en-US" b="1" dirty="0"/>
              <a:t>Furniture</a:t>
            </a:r>
            <a:r>
              <a:rPr lang="en-US" dirty="0"/>
              <a:t> suffers severe margin compression—delivering a meager </a:t>
            </a:r>
            <a:r>
              <a:rPr lang="en-US" b="1" dirty="0"/>
              <a:t>2.49% profit margin</a:t>
            </a:r>
            <a:r>
              <a:rPr lang="en-US" dirty="0"/>
              <a:t> ($18.45K net profit on $742K in sales) due to heavy loss-making sub-categories like Tables (-$17.73K) and Bookcases (-$3.47K).</a:t>
            </a:r>
          </a:p>
          <a:p>
            <a:pPr>
              <a:buFont typeface="Arial" panose="020B0604020202020204" pitchFamily="34" charset="0"/>
              <a:buChar char="•"/>
            </a:pPr>
            <a:r>
              <a:rPr lang="en-US" b="1" dirty="0"/>
              <a:t>Customer Segment Variation:</a:t>
            </a:r>
            <a:r>
              <a:rPr lang="en-US" dirty="0"/>
              <a:t> Performance metrics vary significantly across buyer groups, highlighting a trade-off between order volume and profitability. The </a:t>
            </a:r>
            <a:r>
              <a:rPr lang="en-US" b="1" dirty="0"/>
              <a:t>Consumer segment</a:t>
            </a:r>
            <a:r>
              <a:rPr lang="en-US" dirty="0"/>
              <a:t> drives top-line revenue—generating </a:t>
            </a:r>
            <a:r>
              <a:rPr lang="en-US" b="1" dirty="0"/>
              <a:t>50.6% of total sales</a:t>
            </a:r>
            <a:r>
              <a:rPr lang="en-US" dirty="0"/>
              <a:t> ($1.16M)—but operates at a lower profit margin of </a:t>
            </a:r>
            <a:r>
              <a:rPr lang="en-US" b="1" dirty="0"/>
              <a:t>11.55%</a:t>
            </a:r>
            <a:r>
              <a:rPr lang="en-US" dirty="0"/>
              <a:t>. Conversely, the </a:t>
            </a:r>
            <a:r>
              <a:rPr lang="en-US" b="1" dirty="0"/>
              <a:t>Home Office segment</a:t>
            </a:r>
            <a:r>
              <a:rPr lang="en-US" dirty="0"/>
              <a:t> yields the company's highest profit margin at </a:t>
            </a:r>
            <a:r>
              <a:rPr lang="en-US" b="1" dirty="0"/>
              <a:t>14.03%</a:t>
            </a:r>
            <a:r>
              <a:rPr lang="en-US" dirty="0"/>
              <a:t>, demonstrating greater margin resilience despite smaller overall transaction volumes.</a:t>
            </a:r>
          </a:p>
          <a:p>
            <a:endParaRPr lang="en-IN" dirty="0"/>
          </a:p>
        </p:txBody>
      </p:sp>
      <p:pic>
        <p:nvPicPr>
          <p:cNvPr id="4" name="Picture 3">
            <a:extLst>
              <a:ext uri="{FF2B5EF4-FFF2-40B4-BE49-F238E27FC236}">
                <a16:creationId xmlns:a16="http://schemas.microsoft.com/office/drawing/2014/main" id="{A77E9324-AC02-85F3-2924-F5E9640CE812}"/>
              </a:ext>
            </a:extLst>
          </p:cNvPr>
          <p:cNvPicPr>
            <a:picLocks noChangeAspect="1"/>
          </p:cNvPicPr>
          <p:nvPr/>
        </p:nvPicPr>
        <p:blipFill>
          <a:blip r:embed="rId2">
            <a:alphaModFix amt="35000"/>
            <a:extLst>
              <a:ext uri="{28A0092B-C50C-407E-A947-70E740481C1C}">
                <a14:useLocalDpi xmlns:a14="http://schemas.microsoft.com/office/drawing/2010/main" val="0"/>
              </a:ext>
            </a:extLst>
          </a:blip>
          <a:stretch>
            <a:fillRect/>
          </a:stretch>
        </p:blipFill>
        <p:spPr>
          <a:xfrm>
            <a:off x="10561320" y="6314440"/>
            <a:ext cx="1630680" cy="543560"/>
          </a:xfrm>
          <a:prstGeom prst="rect">
            <a:avLst/>
          </a:prstGeom>
        </p:spPr>
      </p:pic>
    </p:spTree>
    <p:extLst>
      <p:ext uri="{BB962C8B-B14F-4D97-AF65-F5344CB8AC3E}">
        <p14:creationId xmlns:p14="http://schemas.microsoft.com/office/powerpoint/2010/main" val="4647215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F7010-D739-1700-DC74-17946177900A}"/>
              </a:ext>
            </a:extLst>
          </p:cNvPr>
          <p:cNvSpPr>
            <a:spLocks noGrp="1"/>
          </p:cNvSpPr>
          <p:nvPr>
            <p:ph type="title"/>
          </p:nvPr>
        </p:nvSpPr>
        <p:spPr>
          <a:xfrm>
            <a:off x="1640156" y="563150"/>
            <a:ext cx="8911687" cy="769261"/>
          </a:xfrm>
        </p:spPr>
        <p:txBody>
          <a:bodyPr/>
          <a:lstStyle/>
          <a:p>
            <a:r>
              <a:rPr lang="en-IN" b="1" dirty="0"/>
              <a:t>Strategic Business Recommendations</a:t>
            </a:r>
          </a:p>
        </p:txBody>
      </p:sp>
      <p:sp>
        <p:nvSpPr>
          <p:cNvPr id="4" name="Rectangle 1">
            <a:extLst>
              <a:ext uri="{FF2B5EF4-FFF2-40B4-BE49-F238E27FC236}">
                <a16:creationId xmlns:a16="http://schemas.microsoft.com/office/drawing/2014/main" id="{1B728D3F-460D-C9E3-83E4-7E83DCC8A9D2}"/>
              </a:ext>
            </a:extLst>
          </p:cNvPr>
          <p:cNvSpPr>
            <a:spLocks noGrp="1" noChangeArrowheads="1"/>
          </p:cNvSpPr>
          <p:nvPr>
            <p:ph idx="1"/>
          </p:nvPr>
        </p:nvSpPr>
        <p:spPr bwMode="auto">
          <a:xfrm>
            <a:off x="1640156" y="1309194"/>
            <a:ext cx="9837741"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Recommendation 1: Enforce Strict Discount Thresholds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b="1" i="0" u="none" strike="noStrike" cap="none" normalizeH="0" baseline="0" dirty="0">
                <a:ln>
                  <a:noFill/>
                </a:ln>
                <a:solidFill>
                  <a:schemeClr val="tx1"/>
                </a:solidFill>
                <a:effectLst/>
                <a:latin typeface="Arial" panose="020B0604020202020204" pitchFamily="34" charset="0"/>
              </a:rPr>
              <a:t>Establish Executive Discount Caps:</a:t>
            </a:r>
            <a:r>
              <a:rPr kumimoji="0" lang="en-US" altLang="en-US" sz="1800" b="0" i="0" u="none" strike="noStrike" cap="none" normalizeH="0" baseline="0" dirty="0">
                <a:ln>
                  <a:noFill/>
                </a:ln>
                <a:solidFill>
                  <a:schemeClr val="tx1"/>
                </a:solidFill>
                <a:effectLst/>
                <a:latin typeface="Arial" panose="020B0604020202020204" pitchFamily="34" charset="0"/>
              </a:rPr>
              <a:t> Cap baseline promotional discounts at </a:t>
            </a:r>
            <a:r>
              <a:rPr kumimoji="0" lang="en-US" altLang="en-US" sz="1800" b="1" i="0" u="none" strike="noStrike" cap="none" normalizeH="0" baseline="0" dirty="0">
                <a:ln>
                  <a:noFill/>
                </a:ln>
                <a:solidFill>
                  <a:schemeClr val="tx1"/>
                </a:solidFill>
                <a:effectLst/>
                <a:latin typeface="Arial" panose="020B0604020202020204" pitchFamily="34" charset="0"/>
              </a:rPr>
              <a:t>15%–20%</a:t>
            </a:r>
            <a:r>
              <a:rPr kumimoji="0" lang="en-US" altLang="en-US" sz="1800" b="0" i="0" u="none" strike="noStrike" cap="none" normalizeH="0" baseline="0" dirty="0">
                <a:ln>
                  <a:noFill/>
                </a:ln>
                <a:solidFill>
                  <a:schemeClr val="tx1"/>
                </a:solidFill>
                <a:effectLst/>
                <a:latin typeface="Arial" panose="020B0604020202020204" pitchFamily="34" charset="0"/>
              </a:rPr>
              <a:t> across all standard sales channels to preserve healthy unit-level profit margins.</a:t>
            </a:r>
          </a:p>
          <a:p>
            <a:pPr marR="0" lvl="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b="1" i="0" u="none" strike="noStrike" cap="none" normalizeH="0" baseline="0" dirty="0">
                <a:ln>
                  <a:noFill/>
                </a:ln>
                <a:solidFill>
                  <a:schemeClr val="tx1"/>
                </a:solidFill>
                <a:effectLst/>
                <a:latin typeface="Arial" panose="020B0604020202020204" pitchFamily="34" charset="0"/>
              </a:rPr>
              <a:t>Eliminate High-Loss Discounting:</a:t>
            </a:r>
            <a:r>
              <a:rPr kumimoji="0" lang="en-US" altLang="en-US" sz="1800" b="0" i="0" u="none" strike="noStrike" cap="none" normalizeH="0" baseline="0" dirty="0">
                <a:ln>
                  <a:noFill/>
                </a:ln>
                <a:solidFill>
                  <a:schemeClr val="tx1"/>
                </a:solidFill>
                <a:effectLst/>
                <a:latin typeface="Arial" panose="020B0604020202020204" pitchFamily="34" charset="0"/>
              </a:rPr>
              <a:t> Immediately restrict discounts above </a:t>
            </a:r>
            <a:r>
              <a:rPr kumimoji="0" lang="en-US" altLang="en-US" sz="1800" b="1" i="0" u="none" strike="noStrike" cap="none" normalizeH="0" baseline="0" dirty="0">
                <a:ln>
                  <a:noFill/>
                </a:ln>
                <a:solidFill>
                  <a:schemeClr val="tx1"/>
                </a:solidFill>
                <a:effectLst/>
                <a:latin typeface="Arial" panose="020B0604020202020204" pitchFamily="34" charset="0"/>
              </a:rPr>
              <a:t>30%</a:t>
            </a:r>
            <a:r>
              <a:rPr kumimoji="0" lang="en-US" altLang="en-US" sz="1800" b="0" i="0" u="none" strike="noStrike" cap="none" normalizeH="0" baseline="0" dirty="0">
                <a:ln>
                  <a:noFill/>
                </a:ln>
                <a:solidFill>
                  <a:schemeClr val="tx1"/>
                </a:solidFill>
                <a:effectLst/>
                <a:latin typeface="Arial" panose="020B0604020202020204" pitchFamily="34" charset="0"/>
              </a:rPr>
              <a:t> on profit-draining sub-categories such as </a:t>
            </a:r>
            <a:r>
              <a:rPr kumimoji="0" lang="en-US" altLang="en-US" sz="1800" b="1" i="0" u="none" strike="noStrike" cap="none" normalizeH="0" baseline="0" dirty="0">
                <a:ln>
                  <a:noFill/>
                </a:ln>
                <a:solidFill>
                  <a:schemeClr val="tx1"/>
                </a:solidFill>
                <a:effectLst/>
                <a:latin typeface="Arial" panose="020B0604020202020204" pitchFamily="34" charset="0"/>
              </a:rPr>
              <a:t>Tables</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Bookcases</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Binders</a:t>
            </a:r>
            <a:r>
              <a:rPr kumimoji="0" lang="en-US" altLang="en-US" sz="1800" b="0" i="0" u="none" strike="noStrike" cap="none" normalizeH="0" baseline="0" dirty="0">
                <a:ln>
                  <a:noFill/>
                </a:ln>
                <a:solidFill>
                  <a:schemeClr val="tx1"/>
                </a:solidFill>
                <a:effectLst/>
                <a:latin typeface="Arial" panose="020B0604020202020204" pitchFamily="34" charset="0"/>
              </a:rPr>
              <a:t>, which are currently driving negative margins.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Recommendation 2: Portfolio &amp; Regional Restructuring</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defTabSz="914400" eaLnBrk="0" fontAlgn="base" hangingPunct="0">
              <a:spcBef>
                <a:spcPct val="0"/>
              </a:spcBef>
              <a:spcAft>
                <a:spcPct val="0"/>
              </a:spcAft>
              <a:buClrTx/>
              <a:buFont typeface="Courier New" panose="02070309020205020404" pitchFamily="49" charset="0"/>
              <a:buChar char="o"/>
            </a:pPr>
            <a:r>
              <a:rPr kumimoji="0" lang="en-US" altLang="en-US" sz="1800" b="1" i="0" u="none" strike="noStrike" cap="none" normalizeH="0" baseline="0" dirty="0">
                <a:ln>
                  <a:noFill/>
                </a:ln>
                <a:solidFill>
                  <a:schemeClr val="tx1"/>
                </a:solidFill>
                <a:effectLst/>
                <a:latin typeface="Arial" panose="020B0604020202020204" pitchFamily="34" charset="0"/>
              </a:rPr>
              <a:t>Product Portfolio Optimization:</a:t>
            </a:r>
            <a:r>
              <a:rPr kumimoji="0" lang="en-US" altLang="en-US" sz="1800" b="0" i="0" u="none" strike="noStrike" cap="none" normalizeH="0" baseline="0" dirty="0">
                <a:ln>
                  <a:noFill/>
                </a:ln>
                <a:solidFill>
                  <a:schemeClr val="tx1"/>
                </a:solidFill>
                <a:effectLst/>
                <a:latin typeface="Arial" panose="020B0604020202020204" pitchFamily="34" charset="0"/>
              </a:rPr>
              <a:t> Adjust baseline retail pricing, optimize shipping fee structures, or renegotiate supplier procurement costs for loss-making sub-categories (Tables at -$17.73K net loss and Bookcases at -$3.47K net loss).</a:t>
            </a:r>
          </a:p>
          <a:p>
            <a:pPr defTabSz="914400" eaLnBrk="0" fontAlgn="base" hangingPunct="0">
              <a:spcBef>
                <a:spcPct val="0"/>
              </a:spcBef>
              <a:spcAft>
                <a:spcPct val="0"/>
              </a:spcAft>
              <a:buClrTx/>
              <a:buFont typeface="Courier New" panose="02070309020205020404" pitchFamily="49" charset="0"/>
              <a:buChar char="o"/>
            </a:pPr>
            <a:r>
              <a:rPr kumimoji="0" lang="en-US" altLang="en-US" sz="1800" b="1" i="0" u="none" strike="noStrike" cap="none" normalizeH="0" baseline="0" dirty="0">
                <a:ln>
                  <a:noFill/>
                </a:ln>
                <a:solidFill>
                  <a:schemeClr val="tx1"/>
                </a:solidFill>
                <a:effectLst/>
                <a:latin typeface="Arial" panose="020B0604020202020204" pitchFamily="34" charset="0"/>
              </a:rPr>
              <a:t>Targeted Marketing Allocation:</a:t>
            </a:r>
            <a:r>
              <a:rPr kumimoji="0" lang="en-US" altLang="en-US" sz="1800" b="0" i="0" u="none" strike="noStrike" cap="none" normalizeH="0" baseline="0" dirty="0">
                <a:ln>
                  <a:noFill/>
                </a:ln>
                <a:solidFill>
                  <a:schemeClr val="tx1"/>
                </a:solidFill>
                <a:effectLst/>
                <a:latin typeface="Arial" panose="020B0604020202020204" pitchFamily="34" charset="0"/>
              </a:rPr>
              <a:t> Reallocate promotional and advertising budgets toward high-margin </a:t>
            </a:r>
            <a:r>
              <a:rPr kumimoji="0" lang="en-US" altLang="en-US" sz="1800" b="1" i="0" u="none" strike="noStrike" cap="none" normalizeH="0" baseline="0" dirty="0">
                <a:ln>
                  <a:noFill/>
                </a:ln>
                <a:solidFill>
                  <a:schemeClr val="tx1"/>
                </a:solidFill>
                <a:effectLst/>
                <a:latin typeface="Arial" panose="020B0604020202020204" pitchFamily="34" charset="0"/>
              </a:rPr>
              <a:t>Technology</a:t>
            </a:r>
            <a:r>
              <a:rPr kumimoji="0" lang="en-US" altLang="en-US" sz="1800" b="0" i="0" u="none" strike="noStrike" cap="none" normalizeH="0" baseline="0" dirty="0">
                <a:ln>
                  <a:noFill/>
                </a:ln>
                <a:solidFill>
                  <a:schemeClr val="tx1"/>
                </a:solidFill>
                <a:effectLst/>
                <a:latin typeface="Arial" panose="020B0604020202020204" pitchFamily="34" charset="0"/>
              </a:rPr>
              <a:t> products (17.39% margin) and the </a:t>
            </a:r>
            <a:r>
              <a:rPr kumimoji="0" lang="en-US" altLang="en-US" sz="1800" b="1" i="0" u="none" strike="noStrike" cap="none" normalizeH="0" baseline="0" dirty="0">
                <a:ln>
                  <a:noFill/>
                </a:ln>
                <a:solidFill>
                  <a:schemeClr val="tx1"/>
                </a:solidFill>
                <a:effectLst/>
                <a:latin typeface="Arial" panose="020B0604020202020204" pitchFamily="34" charset="0"/>
              </a:rPr>
              <a:t>Home Office</a:t>
            </a:r>
            <a:r>
              <a:rPr kumimoji="0" lang="en-US" altLang="en-US" sz="1800" b="0" i="0" u="none" strike="noStrike" cap="none" normalizeH="0" baseline="0" dirty="0">
                <a:ln>
                  <a:noFill/>
                </a:ln>
                <a:solidFill>
                  <a:schemeClr val="tx1"/>
                </a:solidFill>
                <a:effectLst/>
                <a:latin typeface="Arial" panose="020B0604020202020204" pitchFamily="34" charset="0"/>
              </a:rPr>
              <a:t> customer segment (14.03% margin) to maximize return on sales.</a:t>
            </a:r>
          </a:p>
          <a:p>
            <a:pPr defTabSz="914400" eaLnBrk="0" fontAlgn="base" hangingPunct="0">
              <a:spcBef>
                <a:spcPct val="0"/>
              </a:spcBef>
              <a:spcAft>
                <a:spcPct val="0"/>
              </a:spcAft>
              <a:buClrTx/>
              <a:buFont typeface="Courier New" panose="02070309020205020404" pitchFamily="49" charset="0"/>
              <a:buChar char="o"/>
            </a:pPr>
            <a:r>
              <a:rPr kumimoji="0" lang="en-US" altLang="en-US" sz="1800" b="1" i="0" u="none" strike="noStrike" cap="none" normalizeH="0" baseline="0" dirty="0">
                <a:ln>
                  <a:noFill/>
                </a:ln>
                <a:solidFill>
                  <a:schemeClr val="tx1"/>
                </a:solidFill>
                <a:effectLst/>
                <a:latin typeface="Arial" panose="020B0604020202020204" pitchFamily="34" charset="0"/>
              </a:rPr>
              <a:t>Regional Performance Alignment:</a:t>
            </a:r>
            <a:r>
              <a:rPr kumimoji="0" lang="en-US" altLang="en-US" sz="1800" b="0" i="0" u="none" strike="noStrike" cap="none" normalizeH="0" baseline="0" dirty="0">
                <a:ln>
                  <a:noFill/>
                </a:ln>
                <a:solidFill>
                  <a:schemeClr val="tx1"/>
                </a:solidFill>
                <a:effectLst/>
                <a:latin typeface="Arial" panose="020B0604020202020204" pitchFamily="34" charset="0"/>
              </a:rPr>
              <a:t> Restructure promotional rules and sales strategies in the </a:t>
            </a:r>
            <a:r>
              <a:rPr kumimoji="0" lang="en-US" altLang="en-US" sz="1800" b="1" i="0" u="none" strike="noStrike" cap="none" normalizeH="0" baseline="0" dirty="0">
                <a:ln>
                  <a:noFill/>
                </a:ln>
                <a:solidFill>
                  <a:schemeClr val="tx1"/>
                </a:solidFill>
                <a:effectLst/>
                <a:latin typeface="Arial" panose="020B0604020202020204" pitchFamily="34" charset="0"/>
              </a:rPr>
              <a:t>Central Region</a:t>
            </a:r>
            <a:r>
              <a:rPr kumimoji="0" lang="en-US" altLang="en-US" sz="1800" b="0" i="0" u="none" strike="noStrike" cap="none" normalizeH="0" baseline="0" dirty="0">
                <a:ln>
                  <a:noFill/>
                </a:ln>
                <a:solidFill>
                  <a:schemeClr val="tx1"/>
                </a:solidFill>
                <a:effectLst/>
                <a:latin typeface="Arial" panose="020B0604020202020204" pitchFamily="34" charset="0"/>
              </a:rPr>
              <a:t> to resolve its profit margin lag (7.92%) and align operations closer to the </a:t>
            </a:r>
            <a:r>
              <a:rPr kumimoji="0" lang="en-US" altLang="en-US" sz="1800" b="1" i="0" u="none" strike="noStrike" cap="none" normalizeH="0" baseline="0" dirty="0">
                <a:ln>
                  <a:noFill/>
                </a:ln>
                <a:solidFill>
                  <a:schemeClr val="tx1"/>
                </a:solidFill>
                <a:effectLst/>
                <a:latin typeface="Arial" panose="020B0604020202020204" pitchFamily="34" charset="0"/>
              </a:rPr>
              <a:t>West Region's</a:t>
            </a:r>
            <a:r>
              <a:rPr kumimoji="0" lang="en-US" altLang="en-US" sz="1800" b="0" i="0" u="none" strike="noStrike" cap="none" normalizeH="0" baseline="0" dirty="0">
                <a:ln>
                  <a:noFill/>
                </a:ln>
                <a:solidFill>
                  <a:schemeClr val="tx1"/>
                </a:solidFill>
                <a:effectLst/>
                <a:latin typeface="Arial" panose="020B0604020202020204" pitchFamily="34" charset="0"/>
              </a:rPr>
              <a:t> industry benchmark of </a:t>
            </a:r>
            <a:r>
              <a:rPr kumimoji="0" lang="en-US" altLang="en-US" sz="1800" b="1" i="0" u="none" strike="noStrike" cap="none" normalizeH="0" baseline="0" dirty="0">
                <a:ln>
                  <a:noFill/>
                </a:ln>
                <a:solidFill>
                  <a:schemeClr val="tx1"/>
                </a:solidFill>
                <a:effectLst/>
                <a:latin typeface="Arial" panose="020B0604020202020204" pitchFamily="34" charset="0"/>
              </a:rPr>
              <a:t>14.94%</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726128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DF861-C980-8E63-D7B3-D5BD6FCC9EA0}"/>
              </a:ext>
            </a:extLst>
          </p:cNvPr>
          <p:cNvSpPr>
            <a:spLocks noGrp="1"/>
          </p:cNvSpPr>
          <p:nvPr>
            <p:ph type="title"/>
          </p:nvPr>
        </p:nvSpPr>
        <p:spPr>
          <a:xfrm>
            <a:off x="1640156" y="667653"/>
            <a:ext cx="8911687" cy="743136"/>
          </a:xfrm>
        </p:spPr>
        <p:txBody>
          <a:bodyPr/>
          <a:lstStyle/>
          <a:p>
            <a:r>
              <a:rPr lang="en-IN" dirty="0"/>
              <a:t>Project Conclusion</a:t>
            </a:r>
          </a:p>
        </p:txBody>
      </p:sp>
      <p:sp>
        <p:nvSpPr>
          <p:cNvPr id="3" name="Content Placeholder 2">
            <a:extLst>
              <a:ext uri="{FF2B5EF4-FFF2-40B4-BE49-F238E27FC236}">
                <a16:creationId xmlns:a16="http://schemas.microsoft.com/office/drawing/2014/main" id="{E7ABCB43-2428-FD0D-C866-F80EFB522D14}"/>
              </a:ext>
            </a:extLst>
          </p:cNvPr>
          <p:cNvSpPr>
            <a:spLocks noGrp="1"/>
          </p:cNvSpPr>
          <p:nvPr>
            <p:ph idx="1"/>
          </p:nvPr>
        </p:nvSpPr>
        <p:spPr>
          <a:xfrm>
            <a:off x="1640155" y="1280159"/>
            <a:ext cx="9106221" cy="4737463"/>
          </a:xfrm>
        </p:spPr>
        <p:txBody>
          <a:bodyPr>
            <a:normAutofit/>
          </a:bodyPr>
          <a:lstStyle/>
          <a:p>
            <a:r>
              <a:rPr lang="en-US" dirty="0"/>
              <a:t>The analytical evaluation confirms that top-line revenue volume alone does not translate into sustainable profitability without strict operational margin controls. While the organization successfully generated </a:t>
            </a:r>
            <a:r>
              <a:rPr lang="en-US" b="1" dirty="0"/>
              <a:t>$2.30M</a:t>
            </a:r>
            <a:r>
              <a:rPr lang="en-US" dirty="0"/>
              <a:t> in gross sales across 5,009 transactions, unmonitored promotional discounting, high shipping overheads, and underperforming product lines caused significant net margin erosion.</a:t>
            </a:r>
          </a:p>
          <a:p>
            <a:pPr>
              <a:buFont typeface="Courier New" panose="02070309020205020404" pitchFamily="49" charset="0"/>
              <a:buChar char="o"/>
            </a:pPr>
            <a:r>
              <a:rPr lang="en-US" b="1" dirty="0"/>
              <a:t>Execution Roadmap:</a:t>
            </a:r>
            <a:r>
              <a:rPr lang="en-US" dirty="0"/>
              <a:t> Enforce strict promotional discount caps at </a:t>
            </a:r>
            <a:r>
              <a:rPr lang="en-US" b="1" dirty="0"/>
              <a:t>15%–20%</a:t>
            </a:r>
            <a:r>
              <a:rPr lang="en-US" dirty="0"/>
              <a:t>, eliminate high-loss discount thresholds exceeding 30%, and reallocate promotional budgets toward high-margin growth drivers like the </a:t>
            </a:r>
            <a:r>
              <a:rPr lang="en-US" b="1" dirty="0"/>
              <a:t>Technology</a:t>
            </a:r>
            <a:r>
              <a:rPr lang="en-US" dirty="0"/>
              <a:t> category and </a:t>
            </a:r>
            <a:r>
              <a:rPr lang="en-US" b="1" dirty="0"/>
              <a:t>Home Office</a:t>
            </a:r>
            <a:r>
              <a:rPr lang="en-US" dirty="0"/>
              <a:t> customer segment.</a:t>
            </a:r>
          </a:p>
          <a:p>
            <a:pPr>
              <a:buFont typeface="Courier New" panose="02070309020205020404" pitchFamily="49" charset="0"/>
              <a:buChar char="o"/>
            </a:pPr>
            <a:r>
              <a:rPr lang="en-US" b="1" dirty="0"/>
              <a:t>Expected Financial &amp; Operational Impact:</a:t>
            </a:r>
            <a:r>
              <a:rPr lang="en-US" dirty="0"/>
              <a:t> Implementing these targeted margin controls will eliminate systemic net losses in sub-categories like Tables and Bookcases, resolve regional profitability bottlenecks in the Central region, and elevate overall corporate net profit margins from </a:t>
            </a:r>
            <a:r>
              <a:rPr lang="en-US" b="1" dirty="0"/>
              <a:t>12.47% to over 18%</a:t>
            </a:r>
            <a:r>
              <a:rPr lang="en-US" dirty="0"/>
              <a:t>.</a:t>
            </a:r>
          </a:p>
          <a:p>
            <a:endParaRPr lang="en-IN" dirty="0"/>
          </a:p>
        </p:txBody>
      </p:sp>
    </p:spTree>
    <p:extLst>
      <p:ext uri="{BB962C8B-B14F-4D97-AF65-F5344CB8AC3E}">
        <p14:creationId xmlns:p14="http://schemas.microsoft.com/office/powerpoint/2010/main" val="39605048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5CB925-DE57-616B-EC48-0A8AFBEB6329}"/>
              </a:ext>
            </a:extLst>
          </p:cNvPr>
          <p:cNvSpPr>
            <a:spLocks noGrp="1"/>
          </p:cNvSpPr>
          <p:nvPr>
            <p:ph type="title"/>
          </p:nvPr>
        </p:nvSpPr>
        <p:spPr>
          <a:xfrm>
            <a:off x="1640156" y="610044"/>
            <a:ext cx="8911687" cy="673467"/>
          </a:xfrm>
        </p:spPr>
        <p:txBody>
          <a:bodyPr/>
          <a:lstStyle/>
          <a:p>
            <a:r>
              <a:rPr lang="en-US" dirty="0"/>
              <a:t>GitHub Link </a:t>
            </a:r>
            <a:endParaRPr lang="en-IN" dirty="0"/>
          </a:p>
        </p:txBody>
      </p:sp>
      <p:sp>
        <p:nvSpPr>
          <p:cNvPr id="3" name="Content Placeholder 2">
            <a:extLst>
              <a:ext uri="{FF2B5EF4-FFF2-40B4-BE49-F238E27FC236}">
                <a16:creationId xmlns:a16="http://schemas.microsoft.com/office/drawing/2014/main" id="{23510359-40A3-0DCE-DEBA-ADC27FB2836D}"/>
              </a:ext>
            </a:extLst>
          </p:cNvPr>
          <p:cNvSpPr>
            <a:spLocks noGrp="1"/>
          </p:cNvSpPr>
          <p:nvPr>
            <p:ph idx="1"/>
          </p:nvPr>
        </p:nvSpPr>
        <p:spPr>
          <a:xfrm>
            <a:off x="1640156" y="1540189"/>
            <a:ext cx="8915400" cy="3777622"/>
          </a:xfrm>
        </p:spPr>
        <p:txBody>
          <a:bodyPr/>
          <a:lstStyle/>
          <a:p>
            <a:endParaRPr lang="en-IN" dirty="0"/>
          </a:p>
        </p:txBody>
      </p:sp>
    </p:spTree>
    <p:extLst>
      <p:ext uri="{BB962C8B-B14F-4D97-AF65-F5344CB8AC3E}">
        <p14:creationId xmlns:p14="http://schemas.microsoft.com/office/powerpoint/2010/main" val="751858928"/>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99</TotalTime>
  <Words>2142</Words>
  <Application>Microsoft Office PowerPoint</Application>
  <PresentationFormat>Widescreen</PresentationFormat>
  <Paragraphs>88</Paragraphs>
  <Slides>16</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Aptos</vt:lpstr>
      <vt:lpstr>Arial</vt:lpstr>
      <vt:lpstr>Arial Unicode MS</vt:lpstr>
      <vt:lpstr>Century Gothic</vt:lpstr>
      <vt:lpstr>Courier New</vt:lpstr>
      <vt:lpstr>Google Sans</vt:lpstr>
      <vt:lpstr>Google Sans Text</vt:lpstr>
      <vt:lpstr>Wingdings 3</vt:lpstr>
      <vt:lpstr>Wisp</vt:lpstr>
      <vt:lpstr>E-Commerce Sales &amp; Profitability Analysis</vt:lpstr>
      <vt:lpstr>Project Overview</vt:lpstr>
      <vt:lpstr>Problem Statement</vt:lpstr>
      <vt:lpstr>Dataset Overview</vt:lpstr>
      <vt:lpstr>Tool used </vt:lpstr>
      <vt:lpstr>Target End Users for the Project </vt:lpstr>
      <vt:lpstr>Data Cleaning Process</vt:lpstr>
      <vt:lpstr>Exploratory Data Analysis (EDA)</vt:lpstr>
      <vt:lpstr>Visualizations Overview</vt:lpstr>
      <vt:lpstr>PowerPoint Presentation</vt:lpstr>
      <vt:lpstr>Power BI Dashboard</vt:lpstr>
      <vt:lpstr>Power BI Dashboard</vt:lpstr>
      <vt:lpstr>Key Business Insights</vt:lpstr>
      <vt:lpstr>Strategic Business Recommendations</vt:lpstr>
      <vt:lpstr>Project Conclusion</vt:lpstr>
      <vt:lpstr>GitHub Link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Ayush Kumar</dc:creator>
  <cp:lastModifiedBy>Ayush Kumar</cp:lastModifiedBy>
  <cp:revision>1</cp:revision>
  <dcterms:created xsi:type="dcterms:W3CDTF">2026-09-08T18:08:57Z</dcterms:created>
  <dcterms:modified xsi:type="dcterms:W3CDTF">2026-09-08T19:48:18Z</dcterms:modified>
</cp:coreProperties>
</file>